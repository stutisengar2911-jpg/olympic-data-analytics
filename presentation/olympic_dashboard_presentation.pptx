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Total Medals Awarded</c:v>
                </c:pt>
              </c:strCache>
            </c:strRef>
          </c:tx>
          <c:spPr>
            <a:solidFill>
              <a:srgbClr val="00B4D8"/>
            </a:solidFill>
            <a:ln w="38100" cap="flat">
              <a:solidFill>
                <a:srgbClr val="00B4D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B4D8"/>
              </a:solidFill>
              <a:ln w="9525" cap="flat">
                <a:solidFill>
                  <a:srgbClr val="00B4D8"/>
                </a:solidFill>
                <a:prstDash val="solid"/>
                <a:round/>
              </a:ln>
              <a:effectLst/>
            </c:spPr>
          </c:marker>
          <c:cat>
            <c:multiLvlStrRef>
              <c:f>Sheet1!$A$2:$A$17</c:f>
              <c:multiLvlStrCache>
                <c:ptCount val="16"/>
                <c:lvl>
                  <c:pt idx="0">
                    <c:v>1960</c:v>
                  </c:pt>
                  <c:pt idx="1">
                    <c:v>1964</c:v>
                  </c:pt>
                  <c:pt idx="2">
                    <c:v>1968</c:v>
                  </c:pt>
                  <c:pt idx="3">
                    <c:v>1972</c:v>
                  </c:pt>
                  <c:pt idx="4">
                    <c:v>1976</c:v>
                  </c:pt>
                  <c:pt idx="5">
                    <c:v>1980</c:v>
                  </c:pt>
                  <c:pt idx="6">
                    <c:v>1984</c:v>
                  </c:pt>
                  <c:pt idx="7">
                    <c:v>1988</c:v>
                  </c:pt>
                  <c:pt idx="8">
                    <c:v>1992</c:v>
                  </c:pt>
                  <c:pt idx="9">
                    <c:v>1996</c:v>
                  </c:pt>
                  <c:pt idx="10">
                    <c:v>2000</c:v>
                  </c:pt>
                  <c:pt idx="11">
                    <c:v>2004</c:v>
                  </c:pt>
                  <c:pt idx="12">
                    <c:v>2008</c:v>
                  </c:pt>
                  <c:pt idx="13">
                    <c:v>2012</c:v>
                  </c:pt>
                  <c:pt idx="14">
                    <c:v>2016</c:v>
                  </c:pt>
                  <c:pt idx="15">
                    <c:v>2018</c:v>
                  </c:pt>
                </c:lvl>
              </c:multiLvlStrCache>
            </c:multiLvlStrRef>
          </c:cat>
          <c:val>
            <c:numRef>
              <c:f>Sheet1!$B$2:$B$17</c:f>
              <c:numCache>
                <c:formatCode>General</c:formatCode>
                <c:ptCount val="16"/>
                <c:pt idx="0">
                  <c:v>282</c:v>
                </c:pt>
                <c:pt idx="1">
                  <c:v>380</c:v>
                </c:pt>
                <c:pt idx="2">
                  <c:v>420</c:v>
                </c:pt>
                <c:pt idx="3">
                  <c:v>601</c:v>
                </c:pt>
                <c:pt idx="4">
                  <c:v>613</c:v>
                </c:pt>
                <c:pt idx="5">
                  <c:v>1389</c:v>
                </c:pt>
                <c:pt idx="6">
                  <c:v>622</c:v>
                </c:pt>
                <c:pt idx="7">
                  <c:v>1318</c:v>
                </c:pt>
                <c:pt idx="8">
                  <c:v>1050</c:v>
                </c:pt>
                <c:pt idx="9">
                  <c:v>842</c:v>
                </c:pt>
                <c:pt idx="10">
                  <c:v>927</c:v>
                </c:pt>
                <c:pt idx="11">
                  <c:v>929</c:v>
                </c:pt>
                <c:pt idx="12">
                  <c:v>958</c:v>
                </c:pt>
                <c:pt idx="13">
                  <c:v>962</c:v>
                </c:pt>
                <c:pt idx="14">
                  <c:v>1147</c:v>
                </c:pt>
                <c:pt idx="15">
                  <c:v>398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B8C5D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356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FA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B8C5D6"/>
              </a:solidFill>
            </a:defRPr>
          </a:pPr>
          <a:endParaRPr lang="en-US"/>
        </a:p>
      </c:txPr>
    </c:legend>
    <c:plotVisOnly val="1"/>
    <c:dispBlanksAs val="span"/>
  </c:chart>
  <c:spPr>
    <a:solidFill>
      <a:srgbClr val="152B5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a complete Power BI data analytics project on the Olympic Games.
It covers data understanding, dashboard design, insight generation, and strategic recommendations.
Duration: ~12–15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Olympic Games dataset is analytically rich: long time horizon, multiple dimensions, and real-world significance.
The goal was to go beyond surface-level reporting and find the stories hidden in the numbers.
Every dashboard page answers a distinct stakeholder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mirror a professional analytics engagement: understand → identify → extract → recommend → deliver.
Each dashboard page was designed with one of these objectives as its primary purpose.
The project demonstrates end-to-end analytical thinking, not just chart-building.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17 columns and ~15,000+ rows spanning 26 Olympic editions.
The three medal columns (gold, silver, bronze) are the primary outcome variables.
The games_continent and games_city fields enable geographic analysis — a dimension often overlooked in sports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Rigorous data preparation is where analysis quality is determined.
The most impactful step was creating the DAX Total Medals measure and the Medal Share % — without these, the KPI cards and top-performer charts are impossible.
Power Query's step-by-step transformation log also provides full auditability of every cleaning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was chosen because it integrates data transformation, modelling, and visualisation in a single environment.
The combination of Power Query for ETL and DAX for measure creation eliminates the need for external BI tools.
The interactive navigation between dashboard pages creates a self-guided analytical experience for any stakeholder.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6-page structure is a deliberate narrative arc: set context → show overview → drill into country detail → drill into sport detail → explore geography → conclude with insights.
Each page has consistent navigation buttons so any stakeholder can jump to the section most relevant to them.
This architecture was designed before any visualisation was built — the story came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Intro Page serves as the project's landing page — a clear, professional entry point for any viewer.
The navigation buttons were built using Power BI page navigation bookmarks, creating a seamless app-like experience.
Having a dedicated intro page shows design maturity: the dashboard tells users what they're about to see before showing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Overview is the most-used page for leadership briefings.
At a glance it answers: how many countries, games, medals and sports are in scope?
The oscillating medal trend immediately reveals the Summer/Winter alternating pattern — a key structural insight that drives analysis in subsequent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KPI is not just a number — it is a starting hypothesis.
73 countries but top-10 domination → investigate medal concentration.
35 sports but Athletics/Swimming lead → investigate sport imbalance.
198 average but extreme skew → investigate equity.
This slide demonstrates analytical thinking: asking 'what does this number mean?' rather than just displaying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Country Performance page gives the most granular nation-level view in the entire dashboard.
The medal breakdown chart immediately shows the dominance of USA, Germany, and United Kingdom.
The medal table confirms the pattern: a full 7,557 total participations, but just 15,645 total medals — meaning many nations compete without winning.
The year slider is critical: it reveals nations whose performance changed dramatically over specific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impactful finding from the Country Performance page.
The data confirms what is often assumed but rarely quantified: a small group of nations permanently dominate the Olympic medal table.
The key analytical contribution here is moving from observation to evidence — not 'a few countries do well' but 'top 5 countries = 40%+ of all medals, confirmed by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Sports Performance page reveals a major structural asymmetry: Athletics and Swimming together award thousands of medals, while many disciplines award fewer than 30 across their entire Olympic history.
This asymmetry directly influences which countries dominate the overall medal table — it is not just athletic superiority but sport selection strategy.
The Top/Bottom 10 chart pairing is particularly effective for communicating this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insight reframes the sports analysis as a systemic issue, not just a measurement observation.
Athletics and Swimming's dominance is not neutral — it gives structural advantages to nations that happen to produce world-class track and pool athletes.
This is the kind of second-order insight that separates data analysts from report generators.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Location Analysis page is one of the most visually impactful in the dashboard.
The world map immediately communicates geographic inequality without a single number needing to be read.
The Games by City bar chart is the key analytical visual — it shows that Europe alone has hosted roughly half of all Games in the dataset period.
Africa's complete absence from the host cities list is the standout finding on this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Africa's zero hosting record is the starkest single finding from the Location Analysis page.
It is analytically significant because hosting is not just symbolic — it has measurable impacts on national sports performance, youth participation rates, and infrastructure investment.
By never hosting, African nations are excluded from the development cycle that directly benefits other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medal trend chart from the Executive Overview page is reproduced here as a standalone analytical narrative.
The oscillating pattern is immediately visible — Summer peaks followed by Winter troughs — confirming the structural difference between the two Games.
The long-term growth trend shows the Olympics expanding its medal programme over time, though dominance patterns remain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Insights page is the analytical culmination of the entire dashboard.
Rather than just repeating charts, it synthesises the five most important findings into a readable conclusions panel — making it suitable for executive reporting.
The top 5 countries chart serves as a 'proof point' for the medal concentration insight identified in earlier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must be traceable back to data — and each of these four is.
Rec 1 follows from the Sports Performance page: Athletics/Swimming dominate medal counts.
Rec 2 follows from the Country Medal Table: developing nations with limited budgets achieve better ROI in niche sports.
Rec 3 follows directly from the Location Analysis: Africa = 0 games hosted.
Rec 4 is the meta-recommendation: the dashboard itself is the tool that enables all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conclusion slide ties together all four dimensions of the project: understanding, visualisation, insight, and recommendation.
The three-column impact summary gives any viewer a complete picture of what was achieved in under 30 seconds.
For portfolio or interview purposes, the key message is: this project demonstrates data analyst skills from raw data to decision-ready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Prepared talking points for likely questions:
- 'How did you handle nulls?' → Power Query conditional replacement, documented in the transformation steps.
- 'Why Power BI over Tableau?' → Power BI's native DAX + Power Query integration makes it the most efficient single-tool environment.
- 'What would you add next?' → Predictive medal modelling using historical participation growth rates as input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D1F"/>
        </a:solidFill>
      </p:bgPr>
    </p:bg>
    <p:spTree>
      <p:nvGrpSpPr>
        <p:cNvPr id="1" name=""/>
        <p:cNvGrpSpPr/>
        <p:nvPr/>
      </p:nvGrpSpPr>
      <p:grpSpPr>
        <a:xfrm>
          <a:off x="0" y="0"/>
          <a:ext cx="0" cy="0"/>
          <a:chOff x="0" y="0"/>
          <a:chExt cx="0" cy="0"/>
        </a:xfrm>
      </p:grpSpPr>
      <p:sp>
        <p:nvSpPr>
          <p:cNvPr id="2" name="Shape 0"/>
          <p:cNvSpPr/>
          <p:nvPr/>
        </p:nvSpPr>
        <p:spPr>
          <a:xfrm>
            <a:off x="7040880" y="164592"/>
            <a:ext cx="475488" cy="475488"/>
          </a:xfrm>
          <a:prstGeom prst="ellipse">
            <a:avLst/>
          </a:prstGeom>
          <a:solidFill>
            <a:srgbClr val="060D1F"/>
          </a:solidFill>
          <a:ln w="63500">
            <a:solidFill>
              <a:srgbClr val="1E90FF"/>
            </a:solidFill>
            <a:prstDash val="solid"/>
          </a:ln>
        </p:spPr>
      </p:sp>
      <p:sp>
        <p:nvSpPr>
          <p:cNvPr id="3" name="Shape 1"/>
          <p:cNvSpPr/>
          <p:nvPr/>
        </p:nvSpPr>
        <p:spPr>
          <a:xfrm>
            <a:off x="7479792" y="164592"/>
            <a:ext cx="475488" cy="475488"/>
          </a:xfrm>
          <a:prstGeom prst="ellipse">
            <a:avLst/>
          </a:prstGeom>
          <a:solidFill>
            <a:srgbClr val="060D1F"/>
          </a:solidFill>
          <a:ln w="63500">
            <a:solidFill>
              <a:srgbClr val="D4AF37"/>
            </a:solidFill>
            <a:prstDash val="solid"/>
          </a:ln>
        </p:spPr>
      </p:sp>
      <p:sp>
        <p:nvSpPr>
          <p:cNvPr id="4" name="Shape 2"/>
          <p:cNvSpPr/>
          <p:nvPr/>
        </p:nvSpPr>
        <p:spPr>
          <a:xfrm>
            <a:off x="7918704" y="164592"/>
            <a:ext cx="475488" cy="475488"/>
          </a:xfrm>
          <a:prstGeom prst="ellipse">
            <a:avLst/>
          </a:prstGeom>
          <a:solidFill>
            <a:srgbClr val="060D1F"/>
          </a:solidFill>
          <a:ln w="63500">
            <a:solidFill>
              <a:srgbClr val="E63946"/>
            </a:solidFill>
            <a:prstDash val="solid"/>
          </a:ln>
        </p:spPr>
      </p:sp>
      <p:sp>
        <p:nvSpPr>
          <p:cNvPr id="5" name="Shape 3"/>
          <p:cNvSpPr/>
          <p:nvPr/>
        </p:nvSpPr>
        <p:spPr>
          <a:xfrm>
            <a:off x="8357616" y="164592"/>
            <a:ext cx="475488" cy="475488"/>
          </a:xfrm>
          <a:prstGeom prst="ellipse">
            <a:avLst/>
          </a:prstGeom>
          <a:solidFill>
            <a:srgbClr val="060D1F"/>
          </a:solidFill>
          <a:ln w="63500">
            <a:solidFill>
              <a:srgbClr val="2DC653"/>
            </a:solidFill>
            <a:prstDash val="solid"/>
          </a:ln>
        </p:spPr>
      </p:sp>
      <p:sp>
        <p:nvSpPr>
          <p:cNvPr id="6" name="Shape 4"/>
          <p:cNvSpPr/>
          <p:nvPr/>
        </p:nvSpPr>
        <p:spPr>
          <a:xfrm>
            <a:off x="8796528" y="164592"/>
            <a:ext cx="475488" cy="475488"/>
          </a:xfrm>
          <a:prstGeom prst="ellipse">
            <a:avLst/>
          </a:prstGeom>
          <a:solidFill>
            <a:srgbClr val="060D1F"/>
          </a:solidFill>
          <a:ln w="63500">
            <a:solidFill>
              <a:srgbClr val="B8C5D6"/>
            </a:solidFill>
            <a:prstDash val="solid"/>
          </a:ln>
        </p:spPr>
      </p:sp>
      <p:sp>
        <p:nvSpPr>
          <p:cNvPr id="7" name="Shape 5"/>
          <p:cNvSpPr/>
          <p:nvPr/>
        </p:nvSpPr>
        <p:spPr>
          <a:xfrm>
            <a:off x="0" y="0"/>
            <a:ext cx="182880" cy="5143500"/>
          </a:xfrm>
          <a:prstGeom prst="rect">
            <a:avLst/>
          </a:prstGeom>
          <a:solidFill>
            <a:srgbClr val="D4AF37"/>
          </a:solidFill>
          <a:ln w="12700">
            <a:solidFill>
              <a:srgbClr val="D4AF37"/>
            </a:solidFill>
            <a:prstDash val="solid"/>
          </a:ln>
        </p:spPr>
      </p:sp>
      <p:sp>
        <p:nvSpPr>
          <p:cNvPr id="8" name="Text 6"/>
          <p:cNvSpPr/>
          <p:nvPr/>
        </p:nvSpPr>
        <p:spPr>
          <a:xfrm>
            <a:off x="411480" y="594360"/>
            <a:ext cx="8503920" cy="868680"/>
          </a:xfrm>
          <a:prstGeom prst="rect">
            <a:avLst/>
          </a:prstGeom>
          <a:noFill/>
          <a:ln/>
        </p:spPr>
        <p:txBody>
          <a:bodyPr wrap="square" lIns="0" tIns="0" rIns="0" bIns="0" rtlCol="0" anchor="ctr"/>
          <a:lstStyle/>
          <a:p>
            <a:pPr algn="l" indent="0" marL="0">
              <a:buNone/>
            </a:pPr>
            <a:r>
              <a:rPr lang="en-US" sz="4800" b="1" spc="700" kern="0" dirty="0">
                <a:solidFill>
                  <a:srgbClr val="D4AF37"/>
                </a:solidFill>
                <a:latin typeface="Calibri" pitchFamily="34" charset="0"/>
                <a:ea typeface="Calibri" pitchFamily="34" charset="-122"/>
                <a:cs typeface="Calibri" pitchFamily="34" charset="-120"/>
              </a:rPr>
              <a:t>OLYMPIC GAMES</a:t>
            </a:r>
            <a:endParaRPr lang="en-US" sz="4800" dirty="0"/>
          </a:p>
        </p:txBody>
      </p:sp>
      <p:sp>
        <p:nvSpPr>
          <p:cNvPr id="9" name="Text 7"/>
          <p:cNvSpPr/>
          <p:nvPr/>
        </p:nvSpPr>
        <p:spPr>
          <a:xfrm>
            <a:off x="411480" y="1444752"/>
            <a:ext cx="8503920" cy="804672"/>
          </a:xfrm>
          <a:prstGeom prst="rect">
            <a:avLst/>
          </a:prstGeom>
          <a:noFill/>
          <a:ln/>
        </p:spPr>
        <p:txBody>
          <a:bodyPr wrap="square" lIns="0" tIns="0" rIns="0" bIns="0" rtlCol="0" anchor="ctr"/>
          <a:lstStyle/>
          <a:p>
            <a:pPr algn="l" indent="0" marL="0">
              <a:buNone/>
            </a:pPr>
            <a:r>
              <a:rPr lang="en-US" sz="3400" b="1" spc="400" kern="0" dirty="0">
                <a:solidFill>
                  <a:srgbClr val="FFFFFF"/>
                </a:solidFill>
                <a:latin typeface="Calibri" pitchFamily="34" charset="0"/>
                <a:ea typeface="Calibri" pitchFamily="34" charset="-122"/>
                <a:cs typeface="Calibri" pitchFamily="34" charset="-120"/>
              </a:rPr>
              <a:t>DATA ANALYTICS DASHBOARD</a:t>
            </a:r>
            <a:endParaRPr lang="en-US" sz="3400" dirty="0"/>
          </a:p>
        </p:txBody>
      </p:sp>
      <p:sp>
        <p:nvSpPr>
          <p:cNvPr id="10" name="Text 8"/>
          <p:cNvSpPr/>
          <p:nvPr/>
        </p:nvSpPr>
        <p:spPr>
          <a:xfrm>
            <a:off x="411480" y="2331720"/>
            <a:ext cx="7772400" cy="384048"/>
          </a:xfrm>
          <a:prstGeom prst="rect">
            <a:avLst/>
          </a:prstGeom>
          <a:noFill/>
          <a:ln/>
        </p:spPr>
        <p:txBody>
          <a:bodyPr wrap="square" lIns="0" tIns="0" rIns="0" bIns="0" rtlCol="0" anchor="ctr"/>
          <a:lstStyle/>
          <a:p>
            <a:pPr algn="l" indent="0" marL="0">
              <a:buNone/>
            </a:pPr>
            <a:r>
              <a:rPr lang="en-US" sz="1500" dirty="0">
                <a:solidFill>
                  <a:srgbClr val="00B4D8"/>
                </a:solidFill>
                <a:latin typeface="Calibri" pitchFamily="34" charset="0"/>
                <a:ea typeface="Calibri" pitchFamily="34" charset="-122"/>
                <a:cs typeface="Calibri" pitchFamily="34" charset="-120"/>
              </a:rPr>
              <a:t>Power BI  ·  Interactive Dashboard  ·  Portfolio Project</a:t>
            </a:r>
            <a:endParaRPr lang="en-US" sz="1500" dirty="0"/>
          </a:p>
        </p:txBody>
      </p:sp>
      <p:sp>
        <p:nvSpPr>
          <p:cNvPr id="11" name="Shape 9"/>
          <p:cNvSpPr/>
          <p:nvPr/>
        </p:nvSpPr>
        <p:spPr>
          <a:xfrm>
            <a:off x="411480" y="2816352"/>
            <a:ext cx="5943600" cy="36576"/>
          </a:xfrm>
          <a:prstGeom prst="rect">
            <a:avLst/>
          </a:prstGeom>
          <a:solidFill>
            <a:srgbClr val="7A8FA8"/>
          </a:solidFill>
          <a:ln w="12700">
            <a:solidFill>
              <a:srgbClr val="7A8FA8"/>
            </a:solidFill>
            <a:prstDash val="solid"/>
          </a:ln>
        </p:spPr>
      </p:sp>
      <p:sp>
        <p:nvSpPr>
          <p:cNvPr id="12" name="Text 10"/>
          <p:cNvSpPr/>
          <p:nvPr/>
        </p:nvSpPr>
        <p:spPr>
          <a:xfrm>
            <a:off x="411480" y="2971800"/>
            <a:ext cx="2651760" cy="256032"/>
          </a:xfrm>
          <a:prstGeom prst="rect">
            <a:avLst/>
          </a:prstGeom>
          <a:noFill/>
          <a:ln/>
        </p:spPr>
        <p:txBody>
          <a:bodyPr wrap="square" lIns="0" tIns="0" rIns="0" bIns="0" rtlCol="0" anchor="ctr"/>
          <a:lstStyle/>
          <a:p>
            <a:pPr indent="0" marL="0">
              <a:buNone/>
            </a:pPr>
            <a:r>
              <a:rPr lang="en-US" sz="950" b="1" spc="200" kern="0" dirty="0">
                <a:solidFill>
                  <a:srgbClr val="7A8FA8"/>
                </a:solidFill>
                <a:latin typeface="Calibri" pitchFamily="34" charset="0"/>
                <a:ea typeface="Calibri" pitchFamily="34" charset="-122"/>
                <a:cs typeface="Calibri" pitchFamily="34" charset="-120"/>
              </a:rPr>
              <a:t>DATASET</a:t>
            </a:r>
            <a:endParaRPr lang="en-US" sz="950" dirty="0"/>
          </a:p>
        </p:txBody>
      </p:sp>
      <p:sp>
        <p:nvSpPr>
          <p:cNvPr id="13" name="Text 11"/>
          <p:cNvSpPr/>
          <p:nvPr/>
        </p:nvSpPr>
        <p:spPr>
          <a:xfrm>
            <a:off x="411480" y="3246120"/>
            <a:ext cx="2651760" cy="292608"/>
          </a:xfrm>
          <a:prstGeom prst="rect">
            <a:avLst/>
          </a:prstGeom>
          <a:noFill/>
          <a:ln/>
        </p:spPr>
        <p:txBody>
          <a:bodyPr wrap="square" lIns="0" tIns="0" rIns="0" bIns="0" rtlCol="0" anchor="ctr"/>
          <a:lstStyle/>
          <a:p>
            <a:pPr indent="0" marL="0">
              <a:buNone/>
            </a:pPr>
            <a:r>
              <a:rPr lang="en-US" sz="1300" dirty="0">
                <a:solidFill>
                  <a:srgbClr val="F0F4FA"/>
                </a:solidFill>
                <a:latin typeface="Calibri" pitchFamily="34" charset="0"/>
                <a:ea typeface="Calibri" pitchFamily="34" charset="-122"/>
                <a:cs typeface="Calibri" pitchFamily="34" charset="-120"/>
              </a:rPr>
              <a:t>Olympic NPC Medal Records</a:t>
            </a:r>
            <a:endParaRPr lang="en-US" sz="1300" dirty="0"/>
          </a:p>
        </p:txBody>
      </p:sp>
      <p:sp>
        <p:nvSpPr>
          <p:cNvPr id="14" name="Text 12"/>
          <p:cNvSpPr/>
          <p:nvPr/>
        </p:nvSpPr>
        <p:spPr>
          <a:xfrm>
            <a:off x="3246120" y="2971800"/>
            <a:ext cx="2651760" cy="256032"/>
          </a:xfrm>
          <a:prstGeom prst="rect">
            <a:avLst/>
          </a:prstGeom>
          <a:noFill/>
          <a:ln/>
        </p:spPr>
        <p:txBody>
          <a:bodyPr wrap="square" lIns="0" tIns="0" rIns="0" bIns="0" rtlCol="0" anchor="ctr"/>
          <a:lstStyle/>
          <a:p>
            <a:pPr indent="0" marL="0">
              <a:buNone/>
            </a:pPr>
            <a:r>
              <a:rPr lang="en-US" sz="950" b="1" spc="200" kern="0" dirty="0">
                <a:solidFill>
                  <a:srgbClr val="7A8FA8"/>
                </a:solidFill>
                <a:latin typeface="Calibri" pitchFamily="34" charset="0"/>
                <a:ea typeface="Calibri" pitchFamily="34" charset="-122"/>
                <a:cs typeface="Calibri" pitchFamily="34" charset="-120"/>
              </a:rPr>
              <a:t>TOOL</a:t>
            </a:r>
            <a:endParaRPr lang="en-US" sz="950" dirty="0"/>
          </a:p>
        </p:txBody>
      </p:sp>
      <p:sp>
        <p:nvSpPr>
          <p:cNvPr id="15" name="Text 13"/>
          <p:cNvSpPr/>
          <p:nvPr/>
        </p:nvSpPr>
        <p:spPr>
          <a:xfrm>
            <a:off x="3246120" y="3246120"/>
            <a:ext cx="2651760" cy="292608"/>
          </a:xfrm>
          <a:prstGeom prst="rect">
            <a:avLst/>
          </a:prstGeom>
          <a:noFill/>
          <a:ln/>
        </p:spPr>
        <p:txBody>
          <a:bodyPr wrap="square" lIns="0" tIns="0" rIns="0" bIns="0" rtlCol="0" anchor="ctr"/>
          <a:lstStyle/>
          <a:p>
            <a:pPr indent="0" marL="0">
              <a:buNone/>
            </a:pPr>
            <a:r>
              <a:rPr lang="en-US" sz="1300" dirty="0">
                <a:solidFill>
                  <a:srgbClr val="F0F4FA"/>
                </a:solidFill>
                <a:latin typeface="Calibri" pitchFamily="34" charset="0"/>
                <a:ea typeface="Calibri" pitchFamily="34" charset="-122"/>
                <a:cs typeface="Calibri" pitchFamily="34" charset="-120"/>
              </a:rPr>
              <a:t>Microsoft Power BI</a:t>
            </a:r>
            <a:endParaRPr lang="en-US" sz="1300" dirty="0"/>
          </a:p>
        </p:txBody>
      </p:sp>
      <p:sp>
        <p:nvSpPr>
          <p:cNvPr id="16" name="Text 14"/>
          <p:cNvSpPr/>
          <p:nvPr/>
        </p:nvSpPr>
        <p:spPr>
          <a:xfrm>
            <a:off x="6080760" y="2971800"/>
            <a:ext cx="2651760" cy="256032"/>
          </a:xfrm>
          <a:prstGeom prst="rect">
            <a:avLst/>
          </a:prstGeom>
          <a:noFill/>
          <a:ln/>
        </p:spPr>
        <p:txBody>
          <a:bodyPr wrap="square" lIns="0" tIns="0" rIns="0" bIns="0" rtlCol="0" anchor="ctr"/>
          <a:lstStyle/>
          <a:p>
            <a:pPr indent="0" marL="0">
              <a:buNone/>
            </a:pPr>
            <a:r>
              <a:rPr lang="en-US" sz="950" b="1" spc="200" kern="0" dirty="0">
                <a:solidFill>
                  <a:srgbClr val="7A8FA8"/>
                </a:solidFill>
                <a:latin typeface="Calibri" pitchFamily="34" charset="0"/>
                <a:ea typeface="Calibri" pitchFamily="34" charset="-122"/>
                <a:cs typeface="Calibri" pitchFamily="34" charset="-120"/>
              </a:rPr>
              <a:t>COVERAGE</a:t>
            </a:r>
            <a:endParaRPr lang="en-US" sz="950" dirty="0"/>
          </a:p>
        </p:txBody>
      </p:sp>
      <p:sp>
        <p:nvSpPr>
          <p:cNvPr id="17" name="Text 15"/>
          <p:cNvSpPr/>
          <p:nvPr/>
        </p:nvSpPr>
        <p:spPr>
          <a:xfrm>
            <a:off x="6080760" y="3246120"/>
            <a:ext cx="2651760" cy="292608"/>
          </a:xfrm>
          <a:prstGeom prst="rect">
            <a:avLst/>
          </a:prstGeom>
          <a:noFill/>
          <a:ln/>
        </p:spPr>
        <p:txBody>
          <a:bodyPr wrap="square" lIns="0" tIns="0" rIns="0" bIns="0" rtlCol="0" anchor="ctr"/>
          <a:lstStyle/>
          <a:p>
            <a:pPr indent="0" marL="0">
              <a:buNone/>
            </a:pPr>
            <a:r>
              <a:rPr lang="en-US" sz="1300" dirty="0">
                <a:solidFill>
                  <a:srgbClr val="F0F4FA"/>
                </a:solidFill>
                <a:latin typeface="Calibri" pitchFamily="34" charset="0"/>
                <a:ea typeface="Calibri" pitchFamily="34" charset="-122"/>
                <a:cs typeface="Calibri" pitchFamily="34" charset="-120"/>
              </a:rPr>
              <a:t>1960 – 2018  |  26 Games</a:t>
            </a:r>
            <a:endParaRPr lang="en-US" sz="1300" dirty="0"/>
          </a:p>
        </p:txBody>
      </p:sp>
      <p:sp>
        <p:nvSpPr>
          <p:cNvPr id="18" name="Shape 16"/>
          <p:cNvSpPr/>
          <p:nvPr/>
        </p:nvSpPr>
        <p:spPr>
          <a:xfrm>
            <a:off x="0" y="4453128"/>
            <a:ext cx="9144000" cy="690372"/>
          </a:xfrm>
          <a:prstGeom prst="rect">
            <a:avLst/>
          </a:prstGeom>
          <a:solidFill>
            <a:srgbClr val="0F2040"/>
          </a:solidFill>
          <a:ln w="12700">
            <a:solidFill>
              <a:srgbClr val="0F2040"/>
            </a:solidFill>
            <a:prstDash val="solid"/>
          </a:ln>
        </p:spPr>
      </p:sp>
      <p:sp>
        <p:nvSpPr>
          <p:cNvPr id="19" name="Text 17"/>
          <p:cNvSpPr/>
          <p:nvPr/>
        </p:nvSpPr>
        <p:spPr>
          <a:xfrm>
            <a:off x="365760" y="4480560"/>
            <a:ext cx="8412480" cy="566928"/>
          </a:xfrm>
          <a:prstGeom prst="rect">
            <a:avLst/>
          </a:prstGeom>
          <a:noFill/>
          <a:ln/>
        </p:spPr>
        <p:txBody>
          <a:bodyPr wrap="square" lIns="0" tIns="0" rIns="0" bIns="0" rtlCol="0" anchor="ctr"/>
          <a:lstStyle/>
          <a:p>
            <a:pPr algn="ctr" indent="0" marL="0">
              <a:buNone/>
            </a:pPr>
            <a:r>
              <a:rPr lang="en-US" sz="1400" i="1" dirty="0">
                <a:solidFill>
                  <a:srgbClr val="D4AF37"/>
                </a:solidFill>
                <a:latin typeface="Calibri" pitchFamily="34" charset="0"/>
                <a:ea typeface="Calibri" pitchFamily="34" charset="-122"/>
                <a:cs typeface="Calibri" pitchFamily="34" charset="-120"/>
              </a:rPr>
              <a:t>Uncovering Patterns  ·  Extracting Insights  ·  Driving Decisions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D4AF37"/>
          </a:solidFill>
          <a:ln w="12700">
            <a:solidFill>
              <a:srgbClr val="D4AF37"/>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D4AF37"/>
                </a:solidFill>
                <a:latin typeface="Calibri" pitchFamily="34" charset="0"/>
                <a:ea typeface="Calibri" pitchFamily="34" charset="-122"/>
                <a:cs typeface="Calibri" pitchFamily="34" charset="-120"/>
              </a:rPr>
              <a:t>PROJECT INTRODUCTION</a:t>
            </a:r>
            <a:endParaRPr lang="en-US" sz="2700" dirty="0"/>
          </a:p>
        </p:txBody>
      </p:sp>
      <p:sp>
        <p:nvSpPr>
          <p:cNvPr id="5" name="Shape 3"/>
          <p:cNvSpPr/>
          <p:nvPr/>
        </p:nvSpPr>
        <p:spPr>
          <a:xfrm>
            <a:off x="347472" y="1005840"/>
            <a:ext cx="4114800" cy="3749040"/>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530352" y="1097280"/>
            <a:ext cx="3794760" cy="347472"/>
          </a:xfrm>
          <a:prstGeom prst="rect">
            <a:avLst/>
          </a:prstGeom>
          <a:noFill/>
          <a:ln/>
        </p:spPr>
        <p:txBody>
          <a:bodyPr wrap="square" lIns="0" tIns="0" rIns="0" bIns="0"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Why Analyze Olympic Data?</a:t>
            </a:r>
            <a:endParaRPr lang="en-US" sz="1400" dirty="0"/>
          </a:p>
        </p:txBody>
      </p:sp>
      <p:sp>
        <p:nvSpPr>
          <p:cNvPr id="7" name="Text 5"/>
          <p:cNvSpPr/>
          <p:nvPr/>
        </p:nvSpPr>
        <p:spPr>
          <a:xfrm>
            <a:off x="530352" y="1508760"/>
            <a:ext cx="3749040" cy="3154680"/>
          </a:xfrm>
          <a:prstGeom prst="rect">
            <a:avLst/>
          </a:prstGeom>
          <a:noFill/>
          <a:ln/>
        </p:spPr>
        <p:txBody>
          <a:bodyPr wrap="square" lIns="0" tIns="0" rIns="0" bIns="0" rtlCol="0" anchor="t"/>
          <a:lstStyle/>
          <a:p>
            <a:pPr indent="0" marL="0">
              <a:buNone/>
            </a:pPr>
            <a:r>
              <a:rPr lang="en-US" sz="1200" dirty="0">
                <a:solidFill>
                  <a:srgbClr val="B8C5D6"/>
                </a:solidFill>
                <a:latin typeface="Calibri" pitchFamily="34" charset="0"/>
                <a:ea typeface="Calibri" pitchFamily="34" charset="-122"/>
                <a:cs typeface="Calibri" pitchFamily="34" charset="-120"/>
              </a:rPr>
              <a:t>The Olympic Games represent the world's largest multi-sport event — a unique intersection of athleticism, geopolitics, economics, and culture.</a:t>
            </a:r>
            <a:endParaRPr lang="en-US" sz="1200" dirty="0"/>
          </a:p>
          <a:p>
            <a:pPr indent="0" marL="0">
              <a:buNone/>
            </a:pPr>
            <a:endParaRPr lang="en-US" sz="1200" dirty="0"/>
          </a:p>
          <a:p>
            <a:pPr indent="0" marL="0">
              <a:buNone/>
            </a:pPr>
            <a:r>
              <a:rPr lang="en-US" sz="1200" dirty="0">
                <a:solidFill>
                  <a:srgbClr val="B8C5D6"/>
                </a:solidFill>
                <a:latin typeface="Calibri" pitchFamily="34" charset="0"/>
                <a:ea typeface="Calibri" pitchFamily="34" charset="-122"/>
                <a:cs typeface="Calibri" pitchFamily="34" charset="-120"/>
              </a:rPr>
              <a:t>With records spanning 60+ years and 73 nations, the dataset offers a rare opportunity to apply data analytics to uncover performance patterns, equity gaps, and strategic opportunities that are invisible in raw tables.</a:t>
            </a:r>
            <a:endParaRPr lang="en-US" sz="1200" dirty="0"/>
          </a:p>
          <a:p>
            <a:pPr indent="0" marL="0">
              <a:buNone/>
            </a:pPr>
            <a:endParaRPr lang="en-US" sz="1200" dirty="0"/>
          </a:p>
          <a:p>
            <a:pPr indent="0" marL="0">
              <a:buNone/>
            </a:pPr>
            <a:r>
              <a:rPr lang="en-US" sz="1200" dirty="0">
                <a:solidFill>
                  <a:srgbClr val="B8C5D6"/>
                </a:solidFill>
                <a:latin typeface="Calibri" pitchFamily="34" charset="0"/>
                <a:ea typeface="Calibri" pitchFamily="34" charset="-122"/>
                <a:cs typeface="Calibri" pitchFamily="34" charset="-120"/>
              </a:rPr>
              <a:t>This project uses Microsoft Power BI to build a 6-page interactive dashboard that transforms historical records into a decision-support tool for sports bodies, national committees, and policy makers.</a:t>
            </a:r>
            <a:endParaRPr lang="en-US" sz="1200" dirty="0"/>
          </a:p>
        </p:txBody>
      </p:sp>
      <p:sp>
        <p:nvSpPr>
          <p:cNvPr id="8" name="Shape 6"/>
          <p:cNvSpPr/>
          <p:nvPr/>
        </p:nvSpPr>
        <p:spPr>
          <a:xfrm>
            <a:off x="4709160" y="1005840"/>
            <a:ext cx="4069080" cy="84124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754880" y="1060704"/>
            <a:ext cx="640080" cy="7315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5486400" y="1078992"/>
            <a:ext cx="3154680" cy="27432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Medal Performance</a:t>
            </a:r>
            <a:endParaRPr lang="en-US" sz="1300" dirty="0"/>
          </a:p>
        </p:txBody>
      </p:sp>
      <p:sp>
        <p:nvSpPr>
          <p:cNvPr id="11" name="Text 9"/>
          <p:cNvSpPr/>
          <p:nvPr/>
        </p:nvSpPr>
        <p:spPr>
          <a:xfrm>
            <a:off x="5486400" y="1408176"/>
            <a:ext cx="3154680" cy="320040"/>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Gold, Silver &amp; Bronze analysis across all nations</a:t>
            </a:r>
            <a:endParaRPr lang="en-US" sz="1100" dirty="0"/>
          </a:p>
        </p:txBody>
      </p:sp>
      <p:sp>
        <p:nvSpPr>
          <p:cNvPr id="12" name="Shape 10"/>
          <p:cNvSpPr/>
          <p:nvPr/>
        </p:nvSpPr>
        <p:spPr>
          <a:xfrm>
            <a:off x="4709160" y="1947672"/>
            <a:ext cx="4069080" cy="84124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4754880" y="2002536"/>
            <a:ext cx="640080" cy="7315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5486400" y="2020824"/>
            <a:ext cx="3154680" cy="27432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Global Coverage</a:t>
            </a:r>
            <a:endParaRPr lang="en-US" sz="1300" dirty="0"/>
          </a:p>
        </p:txBody>
      </p:sp>
      <p:sp>
        <p:nvSpPr>
          <p:cNvPr id="15" name="Text 13"/>
          <p:cNvSpPr/>
          <p:nvPr/>
        </p:nvSpPr>
        <p:spPr>
          <a:xfrm>
            <a:off x="5486400" y="2350008"/>
            <a:ext cx="3154680" cy="320040"/>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73 countries across every inhabited continent</a:t>
            </a:r>
            <a:endParaRPr lang="en-US" sz="1100" dirty="0"/>
          </a:p>
        </p:txBody>
      </p:sp>
      <p:sp>
        <p:nvSpPr>
          <p:cNvPr id="16" name="Shape 14"/>
          <p:cNvSpPr/>
          <p:nvPr/>
        </p:nvSpPr>
        <p:spPr>
          <a:xfrm>
            <a:off x="4709160" y="2889504"/>
            <a:ext cx="4069080" cy="84124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754880" y="2944368"/>
            <a:ext cx="640080" cy="7315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486400" y="2962656"/>
            <a:ext cx="3154680" cy="27432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35 Sport Disciplines</a:t>
            </a:r>
            <a:endParaRPr lang="en-US" sz="1300" dirty="0"/>
          </a:p>
        </p:txBody>
      </p:sp>
      <p:sp>
        <p:nvSpPr>
          <p:cNvPr id="19" name="Text 17"/>
          <p:cNvSpPr/>
          <p:nvPr/>
        </p:nvSpPr>
        <p:spPr>
          <a:xfrm>
            <a:off x="5486400" y="3291840"/>
            <a:ext cx="3154680" cy="320040"/>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From Athletics to Winter sports, all analysed</a:t>
            </a:r>
            <a:endParaRPr lang="en-US" sz="1100" dirty="0"/>
          </a:p>
        </p:txBody>
      </p:sp>
      <p:sp>
        <p:nvSpPr>
          <p:cNvPr id="20" name="Shape 18"/>
          <p:cNvSpPr/>
          <p:nvPr/>
        </p:nvSpPr>
        <p:spPr>
          <a:xfrm>
            <a:off x="4709160" y="3831336"/>
            <a:ext cx="4069080" cy="84124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4754880" y="3886200"/>
            <a:ext cx="640080" cy="7315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5486400" y="3904488"/>
            <a:ext cx="3154680" cy="27432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1960 – 2018</a:t>
            </a:r>
            <a:endParaRPr lang="en-US" sz="1300" dirty="0"/>
          </a:p>
        </p:txBody>
      </p:sp>
      <p:sp>
        <p:nvSpPr>
          <p:cNvPr id="23" name="Text 21"/>
          <p:cNvSpPr/>
          <p:nvPr/>
        </p:nvSpPr>
        <p:spPr>
          <a:xfrm>
            <a:off x="5486400" y="4233672"/>
            <a:ext cx="3154680" cy="320040"/>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Six decades of Olympic history in one dashboard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00B4D8"/>
          </a:solidFill>
          <a:ln w="12700">
            <a:solidFill>
              <a:srgbClr val="00B4D8"/>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00B4D8"/>
                </a:solidFill>
                <a:latin typeface="Calibri" pitchFamily="34" charset="0"/>
                <a:ea typeface="Calibri" pitchFamily="34" charset="-122"/>
                <a:cs typeface="Calibri" pitchFamily="34" charset="-120"/>
              </a:rPr>
              <a:t>PROJECT OBJECTIVES</a:t>
            </a:r>
            <a:endParaRPr lang="en-US" sz="2700" dirty="0"/>
          </a:p>
        </p:txBody>
      </p:sp>
      <p:sp>
        <p:nvSpPr>
          <p:cNvPr id="5" name="Shape 3"/>
          <p:cNvSpPr/>
          <p:nvPr/>
        </p:nvSpPr>
        <p:spPr>
          <a:xfrm>
            <a:off x="347472" y="1024128"/>
            <a:ext cx="8458200" cy="73152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47472" y="1024128"/>
            <a:ext cx="658368" cy="731520"/>
          </a:xfrm>
          <a:prstGeom prst="rect">
            <a:avLst/>
          </a:prstGeom>
          <a:solidFill>
            <a:srgbClr val="00B4D8"/>
          </a:solidFill>
          <a:ln w="12700">
            <a:solidFill>
              <a:srgbClr val="00B4D8"/>
            </a:solidFill>
            <a:prstDash val="solid"/>
          </a:ln>
        </p:spPr>
      </p:sp>
      <p:sp>
        <p:nvSpPr>
          <p:cNvPr id="7" name="Text 5"/>
          <p:cNvSpPr/>
          <p:nvPr/>
        </p:nvSpPr>
        <p:spPr>
          <a:xfrm>
            <a:off x="347472" y="1024128"/>
            <a:ext cx="658368" cy="731520"/>
          </a:xfrm>
          <a:prstGeom prst="rect">
            <a:avLst/>
          </a:prstGeom>
          <a:noFill/>
          <a:ln/>
        </p:spPr>
        <p:txBody>
          <a:bodyPr wrap="square" lIns="0" tIns="0" rIns="0" bIns="0" rtlCol="0" anchor="ctr"/>
          <a:lstStyle/>
          <a:p>
            <a:pPr algn="ctr" indent="0" marL="0">
              <a:buNone/>
            </a:pPr>
            <a:r>
              <a:rPr lang="en-US" sz="1700" b="1" dirty="0">
                <a:solidFill>
                  <a:srgbClr val="060D1F"/>
                </a:solidFill>
                <a:latin typeface="Calibri" pitchFamily="34" charset="0"/>
                <a:ea typeface="Calibri" pitchFamily="34" charset="-122"/>
                <a:cs typeface="Calibri" pitchFamily="34" charset="-120"/>
              </a:rPr>
              <a:t>01</a:t>
            </a:r>
            <a:endParaRPr lang="en-US" sz="1700" dirty="0"/>
          </a:p>
        </p:txBody>
      </p:sp>
      <p:sp>
        <p:nvSpPr>
          <p:cNvPr id="8" name="Text 6"/>
          <p:cNvSpPr/>
          <p:nvPr/>
        </p:nvSpPr>
        <p:spPr>
          <a:xfrm>
            <a:off x="1143000" y="1106424"/>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Understand the Dataset</a:t>
            </a:r>
            <a:endParaRPr lang="en-US" sz="1300" dirty="0"/>
          </a:p>
        </p:txBody>
      </p:sp>
      <p:sp>
        <p:nvSpPr>
          <p:cNvPr id="9" name="Text 7"/>
          <p:cNvSpPr/>
          <p:nvPr/>
        </p:nvSpPr>
        <p:spPr>
          <a:xfrm>
            <a:off x="3977640" y="1106424"/>
            <a:ext cx="4709160" cy="548640"/>
          </a:xfrm>
          <a:prstGeom prst="rect">
            <a:avLst/>
          </a:prstGeom>
          <a:noFill/>
          <a:ln/>
        </p:spPr>
        <p:txBody>
          <a:bodyPr wrap="square" lIns="0" tIns="0" rIns="0" bIns="0" rtlCol="0" anchor="ctr"/>
          <a:lstStyle/>
          <a:p>
            <a:pPr indent="0" marL="0">
              <a:buNone/>
            </a:pPr>
            <a:r>
              <a:rPr lang="en-US" sz="1150" dirty="0">
                <a:solidFill>
                  <a:srgbClr val="B8C5D6"/>
                </a:solidFill>
                <a:latin typeface="Calibri" pitchFamily="34" charset="0"/>
                <a:ea typeface="Calibri" pitchFamily="34" charset="-122"/>
                <a:cs typeface="Calibri" pitchFamily="34" charset="-120"/>
              </a:rPr>
              <a:t>Explore the structure, data types, and quality of the Olympic dataset before building any visualisation.</a:t>
            </a:r>
            <a:endParaRPr lang="en-US" sz="1150" dirty="0"/>
          </a:p>
        </p:txBody>
      </p:sp>
      <p:sp>
        <p:nvSpPr>
          <p:cNvPr id="10" name="Shape 8"/>
          <p:cNvSpPr/>
          <p:nvPr/>
        </p:nvSpPr>
        <p:spPr>
          <a:xfrm>
            <a:off x="347472" y="1847088"/>
            <a:ext cx="8458200" cy="73152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47472" y="1847088"/>
            <a:ext cx="658368" cy="731520"/>
          </a:xfrm>
          <a:prstGeom prst="rect">
            <a:avLst/>
          </a:prstGeom>
          <a:solidFill>
            <a:srgbClr val="D4AF37"/>
          </a:solidFill>
          <a:ln w="12700">
            <a:solidFill>
              <a:srgbClr val="D4AF37"/>
            </a:solidFill>
            <a:prstDash val="solid"/>
          </a:ln>
        </p:spPr>
      </p:sp>
      <p:sp>
        <p:nvSpPr>
          <p:cNvPr id="12" name="Text 10"/>
          <p:cNvSpPr/>
          <p:nvPr/>
        </p:nvSpPr>
        <p:spPr>
          <a:xfrm>
            <a:off x="347472" y="1847088"/>
            <a:ext cx="658368" cy="731520"/>
          </a:xfrm>
          <a:prstGeom prst="rect">
            <a:avLst/>
          </a:prstGeom>
          <a:noFill/>
          <a:ln/>
        </p:spPr>
        <p:txBody>
          <a:bodyPr wrap="square" lIns="0" tIns="0" rIns="0" bIns="0" rtlCol="0" anchor="ctr"/>
          <a:lstStyle/>
          <a:p>
            <a:pPr algn="ctr" indent="0" marL="0">
              <a:buNone/>
            </a:pPr>
            <a:r>
              <a:rPr lang="en-US" sz="1700" b="1" dirty="0">
                <a:solidFill>
                  <a:srgbClr val="060D1F"/>
                </a:solidFill>
                <a:latin typeface="Calibri" pitchFamily="34" charset="0"/>
                <a:ea typeface="Calibri" pitchFamily="34" charset="-122"/>
                <a:cs typeface="Calibri" pitchFamily="34" charset="-120"/>
              </a:rPr>
              <a:t>02</a:t>
            </a:r>
            <a:endParaRPr lang="en-US" sz="1700" dirty="0"/>
          </a:p>
        </p:txBody>
      </p:sp>
      <p:sp>
        <p:nvSpPr>
          <p:cNvPr id="13" name="Text 11"/>
          <p:cNvSpPr/>
          <p:nvPr/>
        </p:nvSpPr>
        <p:spPr>
          <a:xfrm>
            <a:off x="1143000" y="1929384"/>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Identify Patterns &amp; Problems</a:t>
            </a:r>
            <a:endParaRPr lang="en-US" sz="1300" dirty="0"/>
          </a:p>
        </p:txBody>
      </p:sp>
      <p:sp>
        <p:nvSpPr>
          <p:cNvPr id="14" name="Text 12"/>
          <p:cNvSpPr/>
          <p:nvPr/>
        </p:nvSpPr>
        <p:spPr>
          <a:xfrm>
            <a:off x="3977640" y="1929384"/>
            <a:ext cx="4709160" cy="548640"/>
          </a:xfrm>
          <a:prstGeom prst="rect">
            <a:avLst/>
          </a:prstGeom>
          <a:noFill/>
          <a:ln/>
        </p:spPr>
        <p:txBody>
          <a:bodyPr wrap="square" lIns="0" tIns="0" rIns="0" bIns="0" rtlCol="0" anchor="ctr"/>
          <a:lstStyle/>
          <a:p>
            <a:pPr indent="0" marL="0">
              <a:buNone/>
            </a:pPr>
            <a:r>
              <a:rPr lang="en-US" sz="1150" dirty="0">
                <a:solidFill>
                  <a:srgbClr val="B8C5D6"/>
                </a:solidFill>
                <a:latin typeface="Calibri" pitchFamily="34" charset="0"/>
                <a:ea typeface="Calibri" pitchFamily="34" charset="-122"/>
                <a:cs typeface="Calibri" pitchFamily="34" charset="-120"/>
              </a:rPr>
              <a:t>Detect medal concentration, geographic disparities in hosting, and imbalances in sport participation.</a:t>
            </a:r>
            <a:endParaRPr lang="en-US" sz="1150" dirty="0"/>
          </a:p>
        </p:txBody>
      </p:sp>
      <p:sp>
        <p:nvSpPr>
          <p:cNvPr id="15" name="Shape 13"/>
          <p:cNvSpPr/>
          <p:nvPr/>
        </p:nvSpPr>
        <p:spPr>
          <a:xfrm>
            <a:off x="347472" y="2670048"/>
            <a:ext cx="8458200" cy="73152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347472" y="2670048"/>
            <a:ext cx="658368" cy="731520"/>
          </a:xfrm>
          <a:prstGeom prst="rect">
            <a:avLst/>
          </a:prstGeom>
          <a:solidFill>
            <a:srgbClr val="1E90FF"/>
          </a:solidFill>
          <a:ln w="12700">
            <a:solidFill>
              <a:srgbClr val="1E90FF"/>
            </a:solidFill>
            <a:prstDash val="solid"/>
          </a:ln>
        </p:spPr>
      </p:sp>
      <p:sp>
        <p:nvSpPr>
          <p:cNvPr id="17" name="Text 15"/>
          <p:cNvSpPr/>
          <p:nvPr/>
        </p:nvSpPr>
        <p:spPr>
          <a:xfrm>
            <a:off x="347472" y="2670048"/>
            <a:ext cx="658368" cy="731520"/>
          </a:xfrm>
          <a:prstGeom prst="rect">
            <a:avLst/>
          </a:prstGeom>
          <a:noFill/>
          <a:ln/>
        </p:spPr>
        <p:txBody>
          <a:bodyPr wrap="square" lIns="0" tIns="0" rIns="0" bIns="0" rtlCol="0" anchor="ctr"/>
          <a:lstStyle/>
          <a:p>
            <a:pPr algn="ctr" indent="0" marL="0">
              <a:buNone/>
            </a:pPr>
            <a:r>
              <a:rPr lang="en-US" sz="1700" b="1" dirty="0">
                <a:solidFill>
                  <a:srgbClr val="060D1F"/>
                </a:solidFill>
                <a:latin typeface="Calibri" pitchFamily="34" charset="0"/>
                <a:ea typeface="Calibri" pitchFamily="34" charset="-122"/>
                <a:cs typeface="Calibri" pitchFamily="34" charset="-120"/>
              </a:rPr>
              <a:t>03</a:t>
            </a:r>
            <a:endParaRPr lang="en-US" sz="1700" dirty="0"/>
          </a:p>
        </p:txBody>
      </p:sp>
      <p:sp>
        <p:nvSpPr>
          <p:cNvPr id="18" name="Text 16"/>
          <p:cNvSpPr/>
          <p:nvPr/>
        </p:nvSpPr>
        <p:spPr>
          <a:xfrm>
            <a:off x="1143000" y="2752344"/>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Extract Meaningful Insights</a:t>
            </a:r>
            <a:endParaRPr lang="en-US" sz="1300" dirty="0"/>
          </a:p>
        </p:txBody>
      </p:sp>
      <p:sp>
        <p:nvSpPr>
          <p:cNvPr id="19" name="Text 17"/>
          <p:cNvSpPr/>
          <p:nvPr/>
        </p:nvSpPr>
        <p:spPr>
          <a:xfrm>
            <a:off x="3977640" y="2752344"/>
            <a:ext cx="4709160" cy="548640"/>
          </a:xfrm>
          <a:prstGeom prst="rect">
            <a:avLst/>
          </a:prstGeom>
          <a:noFill/>
          <a:ln/>
        </p:spPr>
        <p:txBody>
          <a:bodyPr wrap="square" lIns="0" tIns="0" rIns="0" bIns="0" rtlCol="0" anchor="ctr"/>
          <a:lstStyle/>
          <a:p>
            <a:pPr indent="0" marL="0">
              <a:buNone/>
            </a:pPr>
            <a:r>
              <a:rPr lang="en-US" sz="1150" dirty="0">
                <a:solidFill>
                  <a:srgbClr val="B8C5D6"/>
                </a:solidFill>
                <a:latin typeface="Calibri" pitchFamily="34" charset="0"/>
                <a:ea typeface="Calibri" pitchFamily="34" charset="-122"/>
                <a:cs typeface="Calibri" pitchFamily="34" charset="-120"/>
              </a:rPr>
              <a:t>Translate raw statistics into clear narratives about country dominance, sport trends, and hosting equity.</a:t>
            </a:r>
            <a:endParaRPr lang="en-US" sz="1150" dirty="0"/>
          </a:p>
        </p:txBody>
      </p:sp>
      <p:sp>
        <p:nvSpPr>
          <p:cNvPr id="20" name="Shape 18"/>
          <p:cNvSpPr/>
          <p:nvPr/>
        </p:nvSpPr>
        <p:spPr>
          <a:xfrm>
            <a:off x="347472" y="3493008"/>
            <a:ext cx="8458200" cy="73152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47472" y="3493008"/>
            <a:ext cx="658368" cy="731520"/>
          </a:xfrm>
          <a:prstGeom prst="rect">
            <a:avLst/>
          </a:prstGeom>
          <a:solidFill>
            <a:srgbClr val="2DC653"/>
          </a:solidFill>
          <a:ln w="12700">
            <a:solidFill>
              <a:srgbClr val="2DC653"/>
            </a:solidFill>
            <a:prstDash val="solid"/>
          </a:ln>
        </p:spPr>
      </p:sp>
      <p:sp>
        <p:nvSpPr>
          <p:cNvPr id="22" name="Text 20"/>
          <p:cNvSpPr/>
          <p:nvPr/>
        </p:nvSpPr>
        <p:spPr>
          <a:xfrm>
            <a:off x="347472" y="3493008"/>
            <a:ext cx="658368" cy="731520"/>
          </a:xfrm>
          <a:prstGeom prst="rect">
            <a:avLst/>
          </a:prstGeom>
          <a:noFill/>
          <a:ln/>
        </p:spPr>
        <p:txBody>
          <a:bodyPr wrap="square" lIns="0" tIns="0" rIns="0" bIns="0" rtlCol="0" anchor="ctr"/>
          <a:lstStyle/>
          <a:p>
            <a:pPr algn="ctr" indent="0" marL="0">
              <a:buNone/>
            </a:pPr>
            <a:r>
              <a:rPr lang="en-US" sz="1700" b="1" dirty="0">
                <a:solidFill>
                  <a:srgbClr val="060D1F"/>
                </a:solidFill>
                <a:latin typeface="Calibri" pitchFamily="34" charset="0"/>
                <a:ea typeface="Calibri" pitchFamily="34" charset="-122"/>
                <a:cs typeface="Calibri" pitchFamily="34" charset="-120"/>
              </a:rPr>
              <a:t>04</a:t>
            </a:r>
            <a:endParaRPr lang="en-US" sz="1700" dirty="0"/>
          </a:p>
        </p:txBody>
      </p:sp>
      <p:sp>
        <p:nvSpPr>
          <p:cNvPr id="23" name="Text 21"/>
          <p:cNvSpPr/>
          <p:nvPr/>
        </p:nvSpPr>
        <p:spPr>
          <a:xfrm>
            <a:off x="1143000" y="3575304"/>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Deliver Strategic Recommendations</a:t>
            </a:r>
            <a:endParaRPr lang="en-US" sz="1300" dirty="0"/>
          </a:p>
        </p:txBody>
      </p:sp>
      <p:sp>
        <p:nvSpPr>
          <p:cNvPr id="24" name="Text 22"/>
          <p:cNvSpPr/>
          <p:nvPr/>
        </p:nvSpPr>
        <p:spPr>
          <a:xfrm>
            <a:off x="3977640" y="3575304"/>
            <a:ext cx="4709160" cy="548640"/>
          </a:xfrm>
          <a:prstGeom prst="rect">
            <a:avLst/>
          </a:prstGeom>
          <a:noFill/>
          <a:ln/>
        </p:spPr>
        <p:txBody>
          <a:bodyPr wrap="square" lIns="0" tIns="0" rIns="0" bIns="0" rtlCol="0" anchor="ctr"/>
          <a:lstStyle/>
          <a:p>
            <a:pPr indent="0" marL="0">
              <a:buNone/>
            </a:pPr>
            <a:r>
              <a:rPr lang="en-US" sz="1150" dirty="0">
                <a:solidFill>
                  <a:srgbClr val="B8C5D6"/>
                </a:solidFill>
                <a:latin typeface="Calibri" pitchFamily="34" charset="0"/>
                <a:ea typeface="Calibri" pitchFamily="34" charset="-122"/>
                <a:cs typeface="Calibri" pitchFamily="34" charset="-120"/>
              </a:rPr>
              <a:t>Propose data-backed actions for sports governing bodies to address the identified gaps.</a:t>
            </a:r>
            <a:endParaRPr lang="en-US" sz="1150" dirty="0"/>
          </a:p>
        </p:txBody>
      </p:sp>
      <p:sp>
        <p:nvSpPr>
          <p:cNvPr id="25" name="Shape 23"/>
          <p:cNvSpPr/>
          <p:nvPr/>
        </p:nvSpPr>
        <p:spPr>
          <a:xfrm>
            <a:off x="347472" y="4315968"/>
            <a:ext cx="8458200" cy="73152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347472" y="4315968"/>
            <a:ext cx="658368" cy="731520"/>
          </a:xfrm>
          <a:prstGeom prst="rect">
            <a:avLst/>
          </a:prstGeom>
          <a:solidFill>
            <a:srgbClr val="D4AF37"/>
          </a:solidFill>
          <a:ln w="12700">
            <a:solidFill>
              <a:srgbClr val="D4AF37"/>
            </a:solidFill>
            <a:prstDash val="solid"/>
          </a:ln>
        </p:spPr>
      </p:sp>
      <p:sp>
        <p:nvSpPr>
          <p:cNvPr id="27" name="Text 25"/>
          <p:cNvSpPr/>
          <p:nvPr/>
        </p:nvSpPr>
        <p:spPr>
          <a:xfrm>
            <a:off x="347472" y="4315968"/>
            <a:ext cx="658368" cy="731520"/>
          </a:xfrm>
          <a:prstGeom prst="rect">
            <a:avLst/>
          </a:prstGeom>
          <a:noFill/>
          <a:ln/>
        </p:spPr>
        <p:txBody>
          <a:bodyPr wrap="square" lIns="0" tIns="0" rIns="0" bIns="0" rtlCol="0" anchor="ctr"/>
          <a:lstStyle/>
          <a:p>
            <a:pPr algn="ctr" indent="0" marL="0">
              <a:buNone/>
            </a:pPr>
            <a:r>
              <a:rPr lang="en-US" sz="1700" b="1" dirty="0">
                <a:solidFill>
                  <a:srgbClr val="060D1F"/>
                </a:solidFill>
                <a:latin typeface="Calibri" pitchFamily="34" charset="0"/>
                <a:ea typeface="Calibri" pitchFamily="34" charset="-122"/>
                <a:cs typeface="Calibri" pitchFamily="34" charset="-120"/>
              </a:rPr>
              <a:t>05</a:t>
            </a:r>
            <a:endParaRPr lang="en-US" sz="1700" dirty="0"/>
          </a:p>
        </p:txBody>
      </p:sp>
      <p:sp>
        <p:nvSpPr>
          <p:cNvPr id="28" name="Text 26"/>
          <p:cNvSpPr/>
          <p:nvPr/>
        </p:nvSpPr>
        <p:spPr>
          <a:xfrm>
            <a:off x="1143000" y="4398264"/>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Showcase Power BI Capability</a:t>
            </a:r>
            <a:endParaRPr lang="en-US" sz="1300" dirty="0"/>
          </a:p>
        </p:txBody>
      </p:sp>
      <p:sp>
        <p:nvSpPr>
          <p:cNvPr id="29" name="Text 27"/>
          <p:cNvSpPr/>
          <p:nvPr/>
        </p:nvSpPr>
        <p:spPr>
          <a:xfrm>
            <a:off x="3977640" y="4398264"/>
            <a:ext cx="4709160" cy="548640"/>
          </a:xfrm>
          <a:prstGeom prst="rect">
            <a:avLst/>
          </a:prstGeom>
          <a:noFill/>
          <a:ln/>
        </p:spPr>
        <p:txBody>
          <a:bodyPr wrap="square" lIns="0" tIns="0" rIns="0" bIns="0" rtlCol="0" anchor="ctr"/>
          <a:lstStyle/>
          <a:p>
            <a:pPr indent="0" marL="0">
              <a:buNone/>
            </a:pPr>
            <a:r>
              <a:rPr lang="en-US" sz="1150" dirty="0">
                <a:solidFill>
                  <a:srgbClr val="B8C5D6"/>
                </a:solidFill>
                <a:latin typeface="Calibri" pitchFamily="34" charset="0"/>
                <a:ea typeface="Calibri" pitchFamily="34" charset="-122"/>
                <a:cs typeface="Calibri" pitchFamily="34" charset="-120"/>
              </a:rPr>
              <a:t>Demonstrate interactive dashboard design including slicers, drill-through, DAX measures, and map visuals.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D4AF37"/>
          </a:solidFill>
          <a:ln w="12700">
            <a:solidFill>
              <a:srgbClr val="D4AF37"/>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D4AF37"/>
                </a:solidFill>
                <a:latin typeface="Calibri" pitchFamily="34" charset="0"/>
                <a:ea typeface="Calibri" pitchFamily="34" charset="-122"/>
                <a:cs typeface="Calibri" pitchFamily="34" charset="-120"/>
              </a:rPr>
              <a:t>DATASET OVERVIEW</a:t>
            </a:r>
            <a:endParaRPr lang="en-US" sz="2700" dirty="0"/>
          </a:p>
        </p:txBody>
      </p:sp>
      <p:sp>
        <p:nvSpPr>
          <p:cNvPr id="5" name="Shape 3"/>
          <p:cNvSpPr/>
          <p:nvPr/>
        </p:nvSpPr>
        <p:spPr>
          <a:xfrm>
            <a:off x="347472" y="987552"/>
            <a:ext cx="1938528" cy="1261872"/>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47472" y="987552"/>
            <a:ext cx="1938528" cy="54864"/>
          </a:xfrm>
          <a:prstGeom prst="rect">
            <a:avLst/>
          </a:prstGeom>
          <a:solidFill>
            <a:srgbClr val="D4AF37"/>
          </a:solidFill>
          <a:ln w="12700">
            <a:solidFill>
              <a:srgbClr val="D4AF37"/>
            </a:solidFill>
            <a:prstDash val="solid"/>
          </a:ln>
        </p:spPr>
      </p:sp>
      <p:sp>
        <p:nvSpPr>
          <p:cNvPr id="7" name="Text 5"/>
          <p:cNvSpPr/>
          <p:nvPr/>
        </p:nvSpPr>
        <p:spPr>
          <a:xfrm>
            <a:off x="347472" y="1060704"/>
            <a:ext cx="1938528" cy="658368"/>
          </a:xfrm>
          <a:prstGeom prst="rect">
            <a:avLst/>
          </a:prstGeom>
          <a:noFill/>
          <a:ln/>
        </p:spPr>
        <p:txBody>
          <a:bodyPr wrap="square" lIns="0" tIns="0" rIns="0" bIns="0" rtlCol="0" anchor="ctr"/>
          <a:lstStyle/>
          <a:p>
            <a:pPr algn="ctr" indent="0" marL="0">
              <a:buNone/>
            </a:pPr>
            <a:r>
              <a:rPr lang="en-US" sz="3400" b="1" dirty="0">
                <a:solidFill>
                  <a:srgbClr val="D4AF37"/>
                </a:solidFill>
                <a:latin typeface="Calibri" pitchFamily="34" charset="0"/>
                <a:ea typeface="Calibri" pitchFamily="34" charset="-122"/>
                <a:cs typeface="Calibri" pitchFamily="34" charset="-120"/>
              </a:rPr>
              <a:t>73</a:t>
            </a:r>
            <a:endParaRPr lang="en-US" sz="3400" dirty="0"/>
          </a:p>
        </p:txBody>
      </p:sp>
      <p:sp>
        <p:nvSpPr>
          <p:cNvPr id="8" name="Text 6"/>
          <p:cNvSpPr/>
          <p:nvPr/>
        </p:nvSpPr>
        <p:spPr>
          <a:xfrm>
            <a:off x="347472" y="1737360"/>
            <a:ext cx="1938528" cy="384048"/>
          </a:xfrm>
          <a:prstGeom prst="rect">
            <a:avLst/>
          </a:prstGeom>
          <a:noFill/>
          <a:ln/>
        </p:spPr>
        <p:txBody>
          <a:bodyPr wrap="square" lIns="0" tIns="0" rIns="0" bIns="0" rtlCol="0" anchor="ctr"/>
          <a:lstStyle/>
          <a:p>
            <a:pPr algn="ctr" indent="0" marL="0">
              <a:buNone/>
            </a:pPr>
            <a:r>
              <a:rPr lang="en-US" sz="1100" dirty="0">
                <a:solidFill>
                  <a:srgbClr val="B8C5D6"/>
                </a:solidFill>
                <a:latin typeface="Calibri" pitchFamily="34" charset="0"/>
                <a:ea typeface="Calibri" pitchFamily="34" charset="-122"/>
                <a:cs typeface="Calibri" pitchFamily="34" charset="-120"/>
              </a:rPr>
              <a:t>Countries (NPCs)</a:t>
            </a:r>
            <a:endParaRPr lang="en-US" sz="1100" dirty="0"/>
          </a:p>
        </p:txBody>
      </p:sp>
      <p:sp>
        <p:nvSpPr>
          <p:cNvPr id="9" name="Shape 7"/>
          <p:cNvSpPr/>
          <p:nvPr/>
        </p:nvSpPr>
        <p:spPr>
          <a:xfrm>
            <a:off x="2468880" y="987552"/>
            <a:ext cx="1938528" cy="1261872"/>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468880" y="987552"/>
            <a:ext cx="1938528" cy="54864"/>
          </a:xfrm>
          <a:prstGeom prst="rect">
            <a:avLst/>
          </a:prstGeom>
          <a:solidFill>
            <a:srgbClr val="D4AF37"/>
          </a:solidFill>
          <a:ln w="12700">
            <a:solidFill>
              <a:srgbClr val="D4AF37"/>
            </a:solidFill>
            <a:prstDash val="solid"/>
          </a:ln>
        </p:spPr>
      </p:sp>
      <p:sp>
        <p:nvSpPr>
          <p:cNvPr id="11" name="Text 9"/>
          <p:cNvSpPr/>
          <p:nvPr/>
        </p:nvSpPr>
        <p:spPr>
          <a:xfrm>
            <a:off x="2468880" y="1060704"/>
            <a:ext cx="1938528" cy="658368"/>
          </a:xfrm>
          <a:prstGeom prst="rect">
            <a:avLst/>
          </a:prstGeom>
          <a:noFill/>
          <a:ln/>
        </p:spPr>
        <p:txBody>
          <a:bodyPr wrap="square" lIns="0" tIns="0" rIns="0" bIns="0" rtlCol="0" anchor="ctr"/>
          <a:lstStyle/>
          <a:p>
            <a:pPr algn="ctr" indent="0" marL="0">
              <a:buNone/>
            </a:pPr>
            <a:r>
              <a:rPr lang="en-US" sz="3400" b="1" dirty="0">
                <a:solidFill>
                  <a:srgbClr val="D4AF37"/>
                </a:solidFill>
                <a:latin typeface="Calibri" pitchFamily="34" charset="0"/>
                <a:ea typeface="Calibri" pitchFamily="34" charset="-122"/>
                <a:cs typeface="Calibri" pitchFamily="34" charset="-120"/>
              </a:rPr>
              <a:t>26</a:t>
            </a:r>
            <a:endParaRPr lang="en-US" sz="3400" dirty="0"/>
          </a:p>
        </p:txBody>
      </p:sp>
      <p:sp>
        <p:nvSpPr>
          <p:cNvPr id="12" name="Text 10"/>
          <p:cNvSpPr/>
          <p:nvPr/>
        </p:nvSpPr>
        <p:spPr>
          <a:xfrm>
            <a:off x="2468880" y="1737360"/>
            <a:ext cx="1938528" cy="384048"/>
          </a:xfrm>
          <a:prstGeom prst="rect">
            <a:avLst/>
          </a:prstGeom>
          <a:noFill/>
          <a:ln/>
        </p:spPr>
        <p:txBody>
          <a:bodyPr wrap="square" lIns="0" tIns="0" rIns="0" bIns="0" rtlCol="0" anchor="ctr"/>
          <a:lstStyle/>
          <a:p>
            <a:pPr algn="ctr" indent="0" marL="0">
              <a:buNone/>
            </a:pPr>
            <a:r>
              <a:rPr lang="en-US" sz="1100" dirty="0">
                <a:solidFill>
                  <a:srgbClr val="B8C5D6"/>
                </a:solidFill>
                <a:latin typeface="Calibri" pitchFamily="34" charset="0"/>
                <a:ea typeface="Calibri" pitchFamily="34" charset="-122"/>
                <a:cs typeface="Calibri" pitchFamily="34" charset="-120"/>
              </a:rPr>
              <a:t>Games Editions</a:t>
            </a:r>
            <a:endParaRPr lang="en-US" sz="1100" dirty="0"/>
          </a:p>
        </p:txBody>
      </p:sp>
      <p:sp>
        <p:nvSpPr>
          <p:cNvPr id="13" name="Shape 11"/>
          <p:cNvSpPr/>
          <p:nvPr/>
        </p:nvSpPr>
        <p:spPr>
          <a:xfrm>
            <a:off x="4590288" y="987552"/>
            <a:ext cx="1938528" cy="1261872"/>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590288" y="987552"/>
            <a:ext cx="1938528" cy="54864"/>
          </a:xfrm>
          <a:prstGeom prst="rect">
            <a:avLst/>
          </a:prstGeom>
          <a:solidFill>
            <a:srgbClr val="D4AF37"/>
          </a:solidFill>
          <a:ln w="12700">
            <a:solidFill>
              <a:srgbClr val="D4AF37"/>
            </a:solidFill>
            <a:prstDash val="solid"/>
          </a:ln>
        </p:spPr>
      </p:sp>
      <p:sp>
        <p:nvSpPr>
          <p:cNvPr id="15" name="Text 13"/>
          <p:cNvSpPr/>
          <p:nvPr/>
        </p:nvSpPr>
        <p:spPr>
          <a:xfrm>
            <a:off x="4590288" y="1060704"/>
            <a:ext cx="1938528" cy="658368"/>
          </a:xfrm>
          <a:prstGeom prst="rect">
            <a:avLst/>
          </a:prstGeom>
          <a:noFill/>
          <a:ln/>
        </p:spPr>
        <p:txBody>
          <a:bodyPr wrap="square" lIns="0" tIns="0" rIns="0" bIns="0" rtlCol="0" anchor="ctr"/>
          <a:lstStyle/>
          <a:p>
            <a:pPr algn="ctr" indent="0" marL="0">
              <a:buNone/>
            </a:pPr>
            <a:r>
              <a:rPr lang="en-US" sz="3400" b="1" dirty="0">
                <a:solidFill>
                  <a:srgbClr val="D4AF37"/>
                </a:solidFill>
                <a:latin typeface="Calibri" pitchFamily="34" charset="0"/>
                <a:ea typeface="Calibri" pitchFamily="34" charset="-122"/>
                <a:cs typeface="Calibri" pitchFamily="34" charset="-120"/>
              </a:rPr>
              <a:t>16K</a:t>
            </a:r>
            <a:endParaRPr lang="en-US" sz="3400" dirty="0"/>
          </a:p>
        </p:txBody>
      </p:sp>
      <p:sp>
        <p:nvSpPr>
          <p:cNvPr id="16" name="Text 14"/>
          <p:cNvSpPr/>
          <p:nvPr/>
        </p:nvSpPr>
        <p:spPr>
          <a:xfrm>
            <a:off x="4590288" y="1737360"/>
            <a:ext cx="1938528" cy="384048"/>
          </a:xfrm>
          <a:prstGeom prst="rect">
            <a:avLst/>
          </a:prstGeom>
          <a:noFill/>
          <a:ln/>
        </p:spPr>
        <p:txBody>
          <a:bodyPr wrap="square" lIns="0" tIns="0" rIns="0" bIns="0" rtlCol="0" anchor="ctr"/>
          <a:lstStyle/>
          <a:p>
            <a:pPr algn="ctr" indent="0" marL="0">
              <a:buNone/>
            </a:pPr>
            <a:r>
              <a:rPr lang="en-US" sz="1100" dirty="0">
                <a:solidFill>
                  <a:srgbClr val="B8C5D6"/>
                </a:solidFill>
                <a:latin typeface="Calibri" pitchFamily="34" charset="0"/>
                <a:ea typeface="Calibri" pitchFamily="34" charset="-122"/>
                <a:cs typeface="Calibri" pitchFamily="34" charset="-120"/>
              </a:rPr>
              <a:t>Medal Records</a:t>
            </a:r>
            <a:endParaRPr lang="en-US" sz="1100" dirty="0"/>
          </a:p>
        </p:txBody>
      </p:sp>
      <p:sp>
        <p:nvSpPr>
          <p:cNvPr id="17" name="Shape 15"/>
          <p:cNvSpPr/>
          <p:nvPr/>
        </p:nvSpPr>
        <p:spPr>
          <a:xfrm>
            <a:off x="6711696" y="987552"/>
            <a:ext cx="1938528" cy="1261872"/>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6711696" y="987552"/>
            <a:ext cx="1938528" cy="54864"/>
          </a:xfrm>
          <a:prstGeom prst="rect">
            <a:avLst/>
          </a:prstGeom>
          <a:solidFill>
            <a:srgbClr val="D4AF37"/>
          </a:solidFill>
          <a:ln w="12700">
            <a:solidFill>
              <a:srgbClr val="D4AF37"/>
            </a:solidFill>
            <a:prstDash val="solid"/>
          </a:ln>
        </p:spPr>
      </p:sp>
      <p:sp>
        <p:nvSpPr>
          <p:cNvPr id="19" name="Text 17"/>
          <p:cNvSpPr/>
          <p:nvPr/>
        </p:nvSpPr>
        <p:spPr>
          <a:xfrm>
            <a:off x="6711696" y="1060704"/>
            <a:ext cx="1938528" cy="658368"/>
          </a:xfrm>
          <a:prstGeom prst="rect">
            <a:avLst/>
          </a:prstGeom>
          <a:noFill/>
          <a:ln/>
        </p:spPr>
        <p:txBody>
          <a:bodyPr wrap="square" lIns="0" tIns="0" rIns="0" bIns="0" rtlCol="0" anchor="ctr"/>
          <a:lstStyle/>
          <a:p>
            <a:pPr algn="ctr" indent="0" marL="0">
              <a:buNone/>
            </a:pPr>
            <a:r>
              <a:rPr lang="en-US" sz="3400" b="1" dirty="0">
                <a:solidFill>
                  <a:srgbClr val="D4AF37"/>
                </a:solidFill>
                <a:latin typeface="Calibri" pitchFamily="34" charset="0"/>
                <a:ea typeface="Calibri" pitchFamily="34" charset="-122"/>
                <a:cs typeface="Calibri" pitchFamily="34" charset="-120"/>
              </a:rPr>
              <a:t>35</a:t>
            </a:r>
            <a:endParaRPr lang="en-US" sz="3400" dirty="0"/>
          </a:p>
        </p:txBody>
      </p:sp>
      <p:sp>
        <p:nvSpPr>
          <p:cNvPr id="20" name="Text 18"/>
          <p:cNvSpPr/>
          <p:nvPr/>
        </p:nvSpPr>
        <p:spPr>
          <a:xfrm>
            <a:off x="6711696" y="1737360"/>
            <a:ext cx="1938528" cy="384048"/>
          </a:xfrm>
          <a:prstGeom prst="rect">
            <a:avLst/>
          </a:prstGeom>
          <a:noFill/>
          <a:ln/>
        </p:spPr>
        <p:txBody>
          <a:bodyPr wrap="square" lIns="0" tIns="0" rIns="0" bIns="0" rtlCol="0" anchor="ctr"/>
          <a:lstStyle/>
          <a:p>
            <a:pPr algn="ctr" indent="0" marL="0">
              <a:buNone/>
            </a:pPr>
            <a:r>
              <a:rPr lang="en-US" sz="1100" dirty="0">
                <a:solidFill>
                  <a:srgbClr val="B8C5D6"/>
                </a:solidFill>
                <a:latin typeface="Calibri" pitchFamily="34" charset="0"/>
                <a:ea typeface="Calibri" pitchFamily="34" charset="-122"/>
                <a:cs typeface="Calibri" pitchFamily="34" charset="-120"/>
              </a:rPr>
              <a:t>Sports</a:t>
            </a:r>
            <a:endParaRPr lang="en-US" sz="1100" dirty="0"/>
          </a:p>
        </p:txBody>
      </p:sp>
      <p:sp>
        <p:nvSpPr>
          <p:cNvPr id="21" name="Shape 19"/>
          <p:cNvSpPr/>
          <p:nvPr/>
        </p:nvSpPr>
        <p:spPr>
          <a:xfrm>
            <a:off x="347472" y="2423160"/>
            <a:ext cx="4206240" cy="2468880"/>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22" name="Text 20"/>
          <p:cNvSpPr/>
          <p:nvPr/>
        </p:nvSpPr>
        <p:spPr>
          <a:xfrm>
            <a:off x="530352" y="2514600"/>
            <a:ext cx="3840480" cy="310896"/>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About the Dataset</a:t>
            </a:r>
            <a:endParaRPr lang="en-US" sz="1300" dirty="0"/>
          </a:p>
        </p:txBody>
      </p:sp>
      <p:sp>
        <p:nvSpPr>
          <p:cNvPr id="23" name="Text 21"/>
          <p:cNvSpPr/>
          <p:nvPr/>
        </p:nvSpPr>
        <p:spPr>
          <a:xfrm>
            <a:off x="530352" y="2889504"/>
            <a:ext cx="3840480" cy="1920240"/>
          </a:xfrm>
          <a:prstGeom prst="rect">
            <a:avLst/>
          </a:prstGeom>
          <a:noFill/>
          <a:ln/>
        </p:spPr>
        <p:txBody>
          <a:bodyPr wrap="square" lIns="0" tIns="0" rIns="0" bIns="0" rtlCol="0" anchor="t"/>
          <a:lstStyle/>
          <a:p>
            <a:pPr indent="0" marL="0">
              <a:buNone/>
            </a:pPr>
            <a:r>
              <a:rPr lang="en-US" sz="1150" dirty="0">
                <a:solidFill>
                  <a:srgbClr val="B8C5D6"/>
                </a:solidFill>
                <a:latin typeface="Calibri" pitchFamily="34" charset="0"/>
                <a:ea typeface="Calibri" pitchFamily="34" charset="-122"/>
                <a:cs typeface="Calibri" pitchFamily="34" charset="-120"/>
              </a:rPr>
              <a:t>The dataset records Olympic Games performance from 1960 to 2018, covering both Summer and Winter editions.</a:t>
            </a:r>
            <a:endParaRPr lang="en-US" sz="1150" dirty="0"/>
          </a:p>
          <a:p>
            <a:pPr indent="0" marL="0">
              <a:buNone/>
            </a:pPr>
            <a:endParaRPr lang="en-US" sz="1150" dirty="0"/>
          </a:p>
          <a:p>
            <a:pPr indent="0" marL="0">
              <a:buNone/>
            </a:pPr>
            <a:r>
              <a:rPr lang="en-US" sz="1150" dirty="0">
                <a:solidFill>
                  <a:srgbClr val="B8C5D6"/>
                </a:solidFill>
                <a:latin typeface="Calibri" pitchFamily="34" charset="0"/>
                <a:ea typeface="Calibri" pitchFamily="34" charset="-122"/>
                <a:cs typeface="Calibri" pitchFamily="34" charset="-120"/>
              </a:rPr>
              <a:t>Each row represents a unique combination of Games edition, National Olympic Committee (NPC), and sport discipline — with medal counts (gold, silver, bronze) and ranking information.</a:t>
            </a:r>
            <a:endParaRPr lang="en-US" sz="1150" dirty="0"/>
          </a:p>
          <a:p>
            <a:pPr indent="0" marL="0">
              <a:buNone/>
            </a:pPr>
            <a:endParaRPr lang="en-US" sz="1150" dirty="0"/>
          </a:p>
          <a:p>
            <a:pPr indent="0" marL="0">
              <a:buNone/>
            </a:pPr>
            <a:r>
              <a:rPr lang="en-US" sz="1150" dirty="0">
                <a:solidFill>
                  <a:srgbClr val="B8C5D6"/>
                </a:solidFill>
                <a:latin typeface="Calibri" pitchFamily="34" charset="0"/>
                <a:ea typeface="Calibri" pitchFamily="34" charset="-122"/>
                <a:cs typeface="Calibri" pitchFamily="34" charset="-120"/>
              </a:rPr>
              <a:t>This structure supports multi-dimensional analysis across time, geography, sport, and nation.</a:t>
            </a:r>
            <a:endParaRPr lang="en-US" sz="1150" dirty="0"/>
          </a:p>
        </p:txBody>
      </p:sp>
      <p:sp>
        <p:nvSpPr>
          <p:cNvPr id="24" name="Shape 22"/>
          <p:cNvSpPr/>
          <p:nvPr/>
        </p:nvSpPr>
        <p:spPr>
          <a:xfrm>
            <a:off x="4754880" y="2423160"/>
            <a:ext cx="4041648" cy="2468880"/>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4937760" y="2514600"/>
            <a:ext cx="3611880" cy="310896"/>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Key Column Groups</a:t>
            </a:r>
            <a:endParaRPr lang="en-US" sz="1300" dirty="0"/>
          </a:p>
        </p:txBody>
      </p:sp>
      <p:sp>
        <p:nvSpPr>
          <p:cNvPr id="26" name="Shape 24"/>
          <p:cNvSpPr/>
          <p:nvPr/>
        </p:nvSpPr>
        <p:spPr>
          <a:xfrm>
            <a:off x="4937760" y="2926080"/>
            <a:ext cx="64008" cy="402336"/>
          </a:xfrm>
          <a:prstGeom prst="rect">
            <a:avLst/>
          </a:prstGeom>
          <a:solidFill>
            <a:srgbClr val="D4AF37"/>
          </a:solidFill>
          <a:ln w="12700">
            <a:solidFill>
              <a:srgbClr val="D4AF37"/>
            </a:solidFill>
            <a:prstDash val="solid"/>
          </a:ln>
        </p:spPr>
      </p:sp>
      <p:sp>
        <p:nvSpPr>
          <p:cNvPr id="27" name="Text 25"/>
          <p:cNvSpPr/>
          <p:nvPr/>
        </p:nvSpPr>
        <p:spPr>
          <a:xfrm>
            <a:off x="5120640" y="2944368"/>
            <a:ext cx="3547872" cy="20116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Games Dimensions</a:t>
            </a:r>
            <a:endParaRPr lang="en-US" sz="1150" dirty="0"/>
          </a:p>
        </p:txBody>
      </p:sp>
      <p:sp>
        <p:nvSpPr>
          <p:cNvPr id="28" name="Text 26"/>
          <p:cNvSpPr/>
          <p:nvPr/>
        </p:nvSpPr>
        <p:spPr>
          <a:xfrm>
            <a:off x="5120640" y="3145536"/>
            <a:ext cx="3547872" cy="219456"/>
          </a:xfrm>
          <a:prstGeom prst="rect">
            <a:avLst/>
          </a:prstGeom>
          <a:noFill/>
          <a:ln/>
        </p:spPr>
        <p:txBody>
          <a:bodyPr wrap="square" lIns="0" tIns="0" rIns="0" bIns="0" rtlCol="0" anchor="ctr"/>
          <a:lstStyle/>
          <a:p>
            <a:pPr indent="0" marL="0">
              <a:buNone/>
            </a:pPr>
            <a:r>
              <a:rPr lang="en-US" sz="1000" dirty="0">
                <a:solidFill>
                  <a:srgbClr val="7A8FA8"/>
                </a:solidFill>
                <a:latin typeface="Consolas" pitchFamily="34" charset="0"/>
                <a:ea typeface="Consolas" pitchFamily="34" charset="-122"/>
                <a:cs typeface="Consolas" pitchFamily="34" charset="-120"/>
              </a:rPr>
              <a:t>games_year, games_city, games_continent, games_season, games_start/end</a:t>
            </a:r>
            <a:endParaRPr lang="en-US" sz="1000" dirty="0"/>
          </a:p>
        </p:txBody>
      </p:sp>
      <p:sp>
        <p:nvSpPr>
          <p:cNvPr id="29" name="Shape 27"/>
          <p:cNvSpPr/>
          <p:nvPr/>
        </p:nvSpPr>
        <p:spPr>
          <a:xfrm>
            <a:off x="4937760" y="3419856"/>
            <a:ext cx="64008" cy="402336"/>
          </a:xfrm>
          <a:prstGeom prst="rect">
            <a:avLst/>
          </a:prstGeom>
          <a:solidFill>
            <a:srgbClr val="D4AF37"/>
          </a:solidFill>
          <a:ln w="12700">
            <a:solidFill>
              <a:srgbClr val="D4AF37"/>
            </a:solidFill>
            <a:prstDash val="solid"/>
          </a:ln>
        </p:spPr>
      </p:sp>
      <p:sp>
        <p:nvSpPr>
          <p:cNvPr id="30" name="Text 28"/>
          <p:cNvSpPr/>
          <p:nvPr/>
        </p:nvSpPr>
        <p:spPr>
          <a:xfrm>
            <a:off x="5120640" y="3438144"/>
            <a:ext cx="3547872" cy="20116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NPC (Country)</a:t>
            </a:r>
            <a:endParaRPr lang="en-US" sz="1150" dirty="0"/>
          </a:p>
        </p:txBody>
      </p:sp>
      <p:sp>
        <p:nvSpPr>
          <p:cNvPr id="31" name="Text 29"/>
          <p:cNvSpPr/>
          <p:nvPr/>
        </p:nvSpPr>
        <p:spPr>
          <a:xfrm>
            <a:off x="5120640" y="3639312"/>
            <a:ext cx="3547872" cy="219456"/>
          </a:xfrm>
          <a:prstGeom prst="rect">
            <a:avLst/>
          </a:prstGeom>
          <a:noFill/>
          <a:ln/>
        </p:spPr>
        <p:txBody>
          <a:bodyPr wrap="square" lIns="0" tIns="0" rIns="0" bIns="0" rtlCol="0" anchor="ctr"/>
          <a:lstStyle/>
          <a:p>
            <a:pPr indent="0" marL="0">
              <a:buNone/>
            </a:pPr>
            <a:r>
              <a:rPr lang="en-US" sz="1000" dirty="0">
                <a:solidFill>
                  <a:srgbClr val="7A8FA8"/>
                </a:solidFill>
                <a:latin typeface="Consolas" pitchFamily="34" charset="0"/>
                <a:ea typeface="Consolas" pitchFamily="34" charset="-122"/>
                <a:cs typeface="Consolas" pitchFamily="34" charset="-120"/>
              </a:rPr>
              <a:t>npc, npc_name, npc_new, npc_rank, rank_type</a:t>
            </a:r>
            <a:endParaRPr lang="en-US" sz="1000" dirty="0"/>
          </a:p>
        </p:txBody>
      </p:sp>
      <p:sp>
        <p:nvSpPr>
          <p:cNvPr id="32" name="Shape 30"/>
          <p:cNvSpPr/>
          <p:nvPr/>
        </p:nvSpPr>
        <p:spPr>
          <a:xfrm>
            <a:off x="4937760" y="3913632"/>
            <a:ext cx="64008" cy="402336"/>
          </a:xfrm>
          <a:prstGeom prst="rect">
            <a:avLst/>
          </a:prstGeom>
          <a:solidFill>
            <a:srgbClr val="D4AF37"/>
          </a:solidFill>
          <a:ln w="12700">
            <a:solidFill>
              <a:srgbClr val="D4AF37"/>
            </a:solidFill>
            <a:prstDash val="solid"/>
          </a:ln>
        </p:spPr>
      </p:sp>
      <p:sp>
        <p:nvSpPr>
          <p:cNvPr id="33" name="Text 31"/>
          <p:cNvSpPr/>
          <p:nvPr/>
        </p:nvSpPr>
        <p:spPr>
          <a:xfrm>
            <a:off x="5120640" y="3931920"/>
            <a:ext cx="3547872" cy="20116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Medal Metrics</a:t>
            </a:r>
            <a:endParaRPr lang="en-US" sz="1150" dirty="0"/>
          </a:p>
        </p:txBody>
      </p:sp>
      <p:sp>
        <p:nvSpPr>
          <p:cNvPr id="34" name="Text 32"/>
          <p:cNvSpPr/>
          <p:nvPr/>
        </p:nvSpPr>
        <p:spPr>
          <a:xfrm>
            <a:off x="5120640" y="4133088"/>
            <a:ext cx="3547872" cy="219456"/>
          </a:xfrm>
          <a:prstGeom prst="rect">
            <a:avLst/>
          </a:prstGeom>
          <a:noFill/>
          <a:ln/>
        </p:spPr>
        <p:txBody>
          <a:bodyPr wrap="square" lIns="0" tIns="0" rIns="0" bIns="0" rtlCol="0" anchor="ctr"/>
          <a:lstStyle/>
          <a:p>
            <a:pPr indent="0" marL="0">
              <a:buNone/>
            </a:pPr>
            <a:r>
              <a:rPr lang="en-US" sz="1000" dirty="0">
                <a:solidFill>
                  <a:srgbClr val="7A8FA8"/>
                </a:solidFill>
                <a:latin typeface="Consolas" pitchFamily="34" charset="0"/>
                <a:ea typeface="Consolas" pitchFamily="34" charset="-122"/>
                <a:cs typeface="Consolas" pitchFamily="34" charset="-120"/>
              </a:rPr>
              <a:t>npc_gold, npc_silver, npc_bronze</a:t>
            </a:r>
            <a:endParaRPr lang="en-US" sz="1000" dirty="0"/>
          </a:p>
        </p:txBody>
      </p:sp>
      <p:sp>
        <p:nvSpPr>
          <p:cNvPr id="35" name="Shape 33"/>
          <p:cNvSpPr/>
          <p:nvPr/>
        </p:nvSpPr>
        <p:spPr>
          <a:xfrm>
            <a:off x="4937760" y="4407408"/>
            <a:ext cx="64008" cy="402336"/>
          </a:xfrm>
          <a:prstGeom prst="rect">
            <a:avLst/>
          </a:prstGeom>
          <a:solidFill>
            <a:srgbClr val="D4AF37"/>
          </a:solidFill>
          <a:ln w="12700">
            <a:solidFill>
              <a:srgbClr val="D4AF37"/>
            </a:solidFill>
            <a:prstDash val="solid"/>
          </a:ln>
        </p:spPr>
      </p:sp>
      <p:sp>
        <p:nvSpPr>
          <p:cNvPr id="36" name="Text 34"/>
          <p:cNvSpPr/>
          <p:nvPr/>
        </p:nvSpPr>
        <p:spPr>
          <a:xfrm>
            <a:off x="5120640" y="4425696"/>
            <a:ext cx="3547872" cy="20116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Sport</a:t>
            </a:r>
            <a:endParaRPr lang="en-US" sz="1150" dirty="0"/>
          </a:p>
        </p:txBody>
      </p:sp>
      <p:sp>
        <p:nvSpPr>
          <p:cNvPr id="37" name="Text 35"/>
          <p:cNvSpPr/>
          <p:nvPr/>
        </p:nvSpPr>
        <p:spPr>
          <a:xfrm>
            <a:off x="5120640" y="4626864"/>
            <a:ext cx="3547872" cy="219456"/>
          </a:xfrm>
          <a:prstGeom prst="rect">
            <a:avLst/>
          </a:prstGeom>
          <a:noFill/>
          <a:ln/>
        </p:spPr>
        <p:txBody>
          <a:bodyPr wrap="square" lIns="0" tIns="0" rIns="0" bIns="0" rtlCol="0" anchor="ctr"/>
          <a:lstStyle/>
          <a:p>
            <a:pPr indent="0" marL="0">
              <a:buNone/>
            </a:pPr>
            <a:r>
              <a:rPr lang="en-US" sz="1000" dirty="0">
                <a:solidFill>
                  <a:srgbClr val="7A8FA8"/>
                </a:solidFill>
                <a:latin typeface="Consolas" pitchFamily="34" charset="0"/>
                <a:ea typeface="Consolas" pitchFamily="34" charset="-122"/>
                <a:cs typeface="Consolas" pitchFamily="34" charset="-120"/>
              </a:rPr>
              <a:t>sport_code, sport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00B4D8"/>
          </a:solidFill>
          <a:ln w="12700">
            <a:solidFill>
              <a:srgbClr val="00B4D8"/>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00B4D8"/>
                </a:solidFill>
                <a:latin typeface="Calibri" pitchFamily="34" charset="0"/>
                <a:ea typeface="Calibri" pitchFamily="34" charset="-122"/>
                <a:cs typeface="Calibri" pitchFamily="34" charset="-120"/>
              </a:rPr>
              <a:t>DATA PREPARATION &amp; MODELLING</a:t>
            </a:r>
            <a:endParaRPr lang="en-US" sz="2700" dirty="0"/>
          </a:p>
        </p:txBody>
      </p:sp>
      <p:sp>
        <p:nvSpPr>
          <p:cNvPr id="5" name="Shape 3"/>
          <p:cNvSpPr/>
          <p:nvPr/>
        </p:nvSpPr>
        <p:spPr>
          <a:xfrm>
            <a:off x="347472" y="1005840"/>
            <a:ext cx="8458200" cy="93268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65760" y="1197864"/>
            <a:ext cx="548640" cy="548640"/>
          </a:xfrm>
          <a:prstGeom prst="ellipse">
            <a:avLst/>
          </a:prstGeom>
          <a:solidFill>
            <a:srgbClr val="00B4D8"/>
          </a:solidFill>
          <a:ln w="12700">
            <a:solidFill>
              <a:srgbClr val="00B4D8"/>
            </a:solidFill>
            <a:prstDash val="solid"/>
          </a:ln>
        </p:spPr>
      </p:sp>
      <p:sp>
        <p:nvSpPr>
          <p:cNvPr id="7" name="Text 5"/>
          <p:cNvSpPr/>
          <p:nvPr/>
        </p:nvSpPr>
        <p:spPr>
          <a:xfrm>
            <a:off x="365760" y="1197864"/>
            <a:ext cx="548640" cy="548640"/>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78992" y="1097280"/>
            <a:ext cx="7589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Import &amp; Type Validation</a:t>
            </a:r>
            <a:endParaRPr lang="en-US" sz="1300" dirty="0"/>
          </a:p>
        </p:txBody>
      </p:sp>
      <p:sp>
        <p:nvSpPr>
          <p:cNvPr id="9" name="Text 7"/>
          <p:cNvSpPr/>
          <p:nvPr/>
        </p:nvSpPr>
        <p:spPr>
          <a:xfrm>
            <a:off x="1078992" y="1426464"/>
            <a:ext cx="7589520" cy="438912"/>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Loaded the CSV dataset into Power BI Power Query. Validated column data types — confirmed medal counts as whole numbers, dates as date fields, and NPC codes as text. Removed erroneous type coercions.</a:t>
            </a:r>
            <a:endParaRPr lang="en-US" sz="1100" dirty="0"/>
          </a:p>
        </p:txBody>
      </p:sp>
      <p:sp>
        <p:nvSpPr>
          <p:cNvPr id="10" name="Shape 8"/>
          <p:cNvSpPr/>
          <p:nvPr/>
        </p:nvSpPr>
        <p:spPr>
          <a:xfrm>
            <a:off x="347472" y="2029968"/>
            <a:ext cx="8458200" cy="93268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65760" y="2221992"/>
            <a:ext cx="548640" cy="548640"/>
          </a:xfrm>
          <a:prstGeom prst="ellipse">
            <a:avLst/>
          </a:prstGeom>
          <a:solidFill>
            <a:srgbClr val="00B4D8"/>
          </a:solidFill>
          <a:ln w="12700">
            <a:solidFill>
              <a:srgbClr val="00B4D8"/>
            </a:solidFill>
            <a:prstDash val="solid"/>
          </a:ln>
        </p:spPr>
      </p:sp>
      <p:sp>
        <p:nvSpPr>
          <p:cNvPr id="12" name="Text 10"/>
          <p:cNvSpPr/>
          <p:nvPr/>
        </p:nvSpPr>
        <p:spPr>
          <a:xfrm>
            <a:off x="365760" y="2221992"/>
            <a:ext cx="548640" cy="548640"/>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78992" y="2121408"/>
            <a:ext cx="7589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Null &amp; Missing Value Handling</a:t>
            </a:r>
            <a:endParaRPr lang="en-US" sz="1300" dirty="0"/>
          </a:p>
        </p:txBody>
      </p:sp>
      <p:sp>
        <p:nvSpPr>
          <p:cNvPr id="14" name="Text 12"/>
          <p:cNvSpPr/>
          <p:nvPr/>
        </p:nvSpPr>
        <p:spPr>
          <a:xfrm>
            <a:off x="1078992" y="2450592"/>
            <a:ext cx="7589520" cy="438912"/>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Assessed null counts across all 17 columns. Applied conditional replacements for missing NPC names and excluded rows with null medal counts from ranking calculations to prevent skewed KPIs.</a:t>
            </a:r>
            <a:endParaRPr lang="en-US" sz="1100" dirty="0"/>
          </a:p>
        </p:txBody>
      </p:sp>
      <p:sp>
        <p:nvSpPr>
          <p:cNvPr id="15" name="Shape 13"/>
          <p:cNvSpPr/>
          <p:nvPr/>
        </p:nvSpPr>
        <p:spPr>
          <a:xfrm>
            <a:off x="347472" y="3054096"/>
            <a:ext cx="8458200" cy="93268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365760" y="3246120"/>
            <a:ext cx="548640" cy="548640"/>
          </a:xfrm>
          <a:prstGeom prst="ellipse">
            <a:avLst/>
          </a:prstGeom>
          <a:solidFill>
            <a:srgbClr val="00B4D8"/>
          </a:solidFill>
          <a:ln w="12700">
            <a:solidFill>
              <a:srgbClr val="00B4D8"/>
            </a:solidFill>
            <a:prstDash val="solid"/>
          </a:ln>
        </p:spPr>
      </p:sp>
      <p:sp>
        <p:nvSpPr>
          <p:cNvPr id="17" name="Text 15"/>
          <p:cNvSpPr/>
          <p:nvPr/>
        </p:nvSpPr>
        <p:spPr>
          <a:xfrm>
            <a:off x="365760" y="3246120"/>
            <a:ext cx="548640" cy="548640"/>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078992" y="3145536"/>
            <a:ext cx="7589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Calculated Columns &amp; Standardisation</a:t>
            </a:r>
            <a:endParaRPr lang="en-US" sz="1300" dirty="0"/>
          </a:p>
        </p:txBody>
      </p:sp>
      <p:sp>
        <p:nvSpPr>
          <p:cNvPr id="19" name="Text 17"/>
          <p:cNvSpPr/>
          <p:nvPr/>
        </p:nvSpPr>
        <p:spPr>
          <a:xfrm>
            <a:off x="1078992" y="3474720"/>
            <a:ext cx="7589520" cy="438912"/>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Created a Total Medals calculated column (gold + silver + bronze). Standardised season labels and NPC code formats for consistent cross-page filtering and slicer behaviour.</a:t>
            </a:r>
            <a:endParaRPr lang="en-US" sz="1100" dirty="0"/>
          </a:p>
        </p:txBody>
      </p:sp>
      <p:sp>
        <p:nvSpPr>
          <p:cNvPr id="20" name="Shape 18"/>
          <p:cNvSpPr/>
          <p:nvPr/>
        </p:nvSpPr>
        <p:spPr>
          <a:xfrm>
            <a:off x="347472" y="4078224"/>
            <a:ext cx="8458200" cy="93268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65760" y="4270248"/>
            <a:ext cx="548640" cy="548640"/>
          </a:xfrm>
          <a:prstGeom prst="ellipse">
            <a:avLst/>
          </a:prstGeom>
          <a:solidFill>
            <a:srgbClr val="00B4D8"/>
          </a:solidFill>
          <a:ln w="12700">
            <a:solidFill>
              <a:srgbClr val="00B4D8"/>
            </a:solidFill>
            <a:prstDash val="solid"/>
          </a:ln>
        </p:spPr>
      </p:sp>
      <p:sp>
        <p:nvSpPr>
          <p:cNvPr id="22" name="Text 20"/>
          <p:cNvSpPr/>
          <p:nvPr/>
        </p:nvSpPr>
        <p:spPr>
          <a:xfrm>
            <a:off x="365760" y="4270248"/>
            <a:ext cx="548640" cy="548640"/>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078992" y="4169664"/>
            <a:ext cx="7589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DAX Measures for KPIs</a:t>
            </a:r>
            <a:endParaRPr lang="en-US" sz="1300" dirty="0"/>
          </a:p>
        </p:txBody>
      </p:sp>
      <p:sp>
        <p:nvSpPr>
          <p:cNvPr id="24" name="Text 22"/>
          <p:cNvSpPr/>
          <p:nvPr/>
        </p:nvSpPr>
        <p:spPr>
          <a:xfrm>
            <a:off x="1078992" y="4498848"/>
            <a:ext cx="7589520" cy="438912"/>
          </a:xfrm>
          <a:prstGeom prst="rect">
            <a:avLst/>
          </a:prstGeom>
          <a:noFill/>
          <a:ln/>
        </p:spPr>
        <p:txBody>
          <a:bodyPr wrap="square" lIns="0" tIns="0" rIns="0" bIns="0" rtlCol="0" anchor="ctr"/>
          <a:lstStyle/>
          <a:p>
            <a:pPr indent="0" marL="0">
              <a:buNone/>
            </a:pPr>
            <a:r>
              <a:rPr lang="en-US" sz="1100" dirty="0">
                <a:solidFill>
                  <a:srgbClr val="B8C5D6"/>
                </a:solidFill>
                <a:latin typeface="Calibri" pitchFamily="34" charset="0"/>
                <a:ea typeface="Calibri" pitchFamily="34" charset="-122"/>
                <a:cs typeface="Calibri" pitchFamily="34" charset="-120"/>
              </a:rPr>
              <a:t>Built DAX measures including Total Countries, Total Medals, Avg Medals per Country, and Medal Share %. These power all KPI cards, trend charts, and the Top 10 Nations ranking bar chart.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1E90FF"/>
          </a:solidFill>
          <a:ln w="12700">
            <a:solidFill>
              <a:srgbClr val="1E90FF"/>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1E90FF"/>
                </a:solidFill>
                <a:latin typeface="Calibri" pitchFamily="34" charset="0"/>
                <a:ea typeface="Calibri" pitchFamily="34" charset="-122"/>
                <a:cs typeface="Calibri" pitchFamily="34" charset="-120"/>
              </a:rPr>
              <a:t>TOOLS &amp; TECHNOLOGY</a:t>
            </a:r>
            <a:endParaRPr lang="en-US" sz="2700" dirty="0"/>
          </a:p>
        </p:txBody>
      </p:sp>
      <p:sp>
        <p:nvSpPr>
          <p:cNvPr id="5" name="Shape 3"/>
          <p:cNvSpPr/>
          <p:nvPr/>
        </p:nvSpPr>
        <p:spPr>
          <a:xfrm>
            <a:off x="347472" y="1005840"/>
            <a:ext cx="5120640" cy="379476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47472" y="1005840"/>
            <a:ext cx="5120640" cy="54864"/>
          </a:xfrm>
          <a:prstGeom prst="rect">
            <a:avLst/>
          </a:prstGeom>
          <a:solidFill>
            <a:srgbClr val="1E90FF"/>
          </a:solidFill>
          <a:ln w="12700">
            <a:solidFill>
              <a:srgbClr val="1E90FF"/>
            </a:solidFill>
            <a:prstDash val="solid"/>
          </a:ln>
        </p:spPr>
      </p:sp>
      <p:sp>
        <p:nvSpPr>
          <p:cNvPr id="7" name="Text 5"/>
          <p:cNvSpPr/>
          <p:nvPr/>
        </p:nvSpPr>
        <p:spPr>
          <a:xfrm>
            <a:off x="347472" y="1078992"/>
            <a:ext cx="1005840" cy="914400"/>
          </a:xfrm>
          <a:prstGeom prst="rect">
            <a:avLst/>
          </a:prstGeom>
          <a:noFill/>
          <a:ln/>
        </p:spPr>
        <p:txBody>
          <a:bodyPr wrap="square" lIns="0" tIns="0" rIns="0" bIns="0" rtlCol="0" anchor="ctr"/>
          <a:lstStyle/>
          <a:p>
            <a:pPr algn="ctr" indent="0" marL="0">
              <a:buNone/>
            </a:pPr>
            <a:r>
              <a:rPr lang="en-US" sz="3800" dirty="0">
                <a:solidFill>
                  <a:srgbClr val="000000"/>
                </a:solidFill>
              </a:rPr>
              <a:t>⚡</a:t>
            </a:r>
            <a:endParaRPr lang="en-US" sz="3800" dirty="0"/>
          </a:p>
        </p:txBody>
      </p:sp>
      <p:sp>
        <p:nvSpPr>
          <p:cNvPr id="8" name="Text 6"/>
          <p:cNvSpPr/>
          <p:nvPr/>
        </p:nvSpPr>
        <p:spPr>
          <a:xfrm>
            <a:off x="1417320" y="1170432"/>
            <a:ext cx="3931920" cy="384048"/>
          </a:xfrm>
          <a:prstGeom prst="rect">
            <a:avLst/>
          </a:prstGeom>
          <a:noFill/>
          <a:ln/>
        </p:spPr>
        <p:txBody>
          <a:bodyPr wrap="square" lIns="0" tIns="0" rIns="0" bIns="0" rtlCol="0" anchor="ctr"/>
          <a:lstStyle/>
          <a:p>
            <a:pPr indent="0" marL="0">
              <a:buNone/>
            </a:pPr>
            <a:r>
              <a:rPr lang="en-US" sz="1800" b="1" dirty="0">
                <a:solidFill>
                  <a:srgbClr val="D4AF37"/>
                </a:solidFill>
                <a:latin typeface="Calibri" pitchFamily="34" charset="0"/>
                <a:ea typeface="Calibri" pitchFamily="34" charset="-122"/>
                <a:cs typeface="Calibri" pitchFamily="34" charset="-120"/>
              </a:rPr>
              <a:t>Microsoft Power BI</a:t>
            </a:r>
            <a:endParaRPr lang="en-US" sz="1800" dirty="0"/>
          </a:p>
        </p:txBody>
      </p:sp>
      <p:sp>
        <p:nvSpPr>
          <p:cNvPr id="9" name="Text 7"/>
          <p:cNvSpPr/>
          <p:nvPr/>
        </p:nvSpPr>
        <p:spPr>
          <a:xfrm>
            <a:off x="1417320" y="1572768"/>
            <a:ext cx="3931920" cy="256032"/>
          </a:xfrm>
          <a:prstGeom prst="rect">
            <a:avLst/>
          </a:prstGeom>
          <a:noFill/>
          <a:ln/>
        </p:spPr>
        <p:txBody>
          <a:bodyPr wrap="square" lIns="0" tIns="0" rIns="0" bIns="0" rtlCol="0" anchor="ctr"/>
          <a:lstStyle/>
          <a:p>
            <a:pPr indent="0" marL="0">
              <a:buNone/>
            </a:pPr>
            <a:r>
              <a:rPr lang="en-US" sz="950" b="1" spc="150" kern="0" dirty="0">
                <a:solidFill>
                  <a:srgbClr val="00B4D8"/>
                </a:solidFill>
                <a:latin typeface="Calibri" pitchFamily="34" charset="0"/>
                <a:ea typeface="Calibri" pitchFamily="34" charset="-122"/>
                <a:cs typeface="Calibri" pitchFamily="34" charset="-120"/>
              </a:rPr>
              <a:t>PRIMARY ANALYTICS &amp; VISUALISATION TOOL</a:t>
            </a:r>
            <a:endParaRPr lang="en-US" sz="950" dirty="0"/>
          </a:p>
        </p:txBody>
      </p:sp>
      <p:sp>
        <p:nvSpPr>
          <p:cNvPr id="10" name="Text 8"/>
          <p:cNvSpPr/>
          <p:nvPr/>
        </p:nvSpPr>
        <p:spPr>
          <a:xfrm>
            <a:off x="502920" y="1938528"/>
            <a:ext cx="4800600" cy="411480"/>
          </a:xfrm>
          <a:prstGeom prst="rect">
            <a:avLst/>
          </a:prstGeom>
          <a:noFill/>
          <a:ln/>
        </p:spPr>
        <p:txBody>
          <a:bodyPr wrap="square" lIns="0" tIns="0" rIns="0" bIns="0" rtlCol="0" anchor="ctr"/>
          <a:lstStyle/>
          <a:p>
            <a:pPr marL="342900" indent="-342900">
              <a:buSzPct val="100000"/>
              <a:buChar char="•"/>
            </a:pPr>
            <a:r>
              <a:rPr lang="en-US" sz="1150" dirty="0">
                <a:solidFill>
                  <a:srgbClr val="B8C5D6"/>
                </a:solidFill>
                <a:latin typeface="Calibri" pitchFamily="34" charset="0"/>
                <a:ea typeface="Calibri" pitchFamily="34" charset="-122"/>
                <a:cs typeface="Calibri" pitchFamily="34" charset="-120"/>
              </a:rPr>
              <a:t>Power Query — data import, transformation, and type validation</a:t>
            </a:r>
            <a:endParaRPr lang="en-US" sz="1150" dirty="0"/>
          </a:p>
        </p:txBody>
      </p:sp>
      <p:sp>
        <p:nvSpPr>
          <p:cNvPr id="11" name="Text 9"/>
          <p:cNvSpPr/>
          <p:nvPr/>
        </p:nvSpPr>
        <p:spPr>
          <a:xfrm>
            <a:off x="502920" y="2395728"/>
            <a:ext cx="4800600" cy="411480"/>
          </a:xfrm>
          <a:prstGeom prst="rect">
            <a:avLst/>
          </a:prstGeom>
          <a:noFill/>
          <a:ln/>
        </p:spPr>
        <p:txBody>
          <a:bodyPr wrap="square" lIns="0" tIns="0" rIns="0" bIns="0" rtlCol="0" anchor="ctr"/>
          <a:lstStyle/>
          <a:p>
            <a:pPr marL="342900" indent="-342900">
              <a:buSzPct val="100000"/>
              <a:buChar char="•"/>
            </a:pPr>
            <a:r>
              <a:rPr lang="en-US" sz="1150" dirty="0">
                <a:solidFill>
                  <a:srgbClr val="B8C5D6"/>
                </a:solidFill>
                <a:latin typeface="Calibri" pitchFamily="34" charset="0"/>
                <a:ea typeface="Calibri" pitchFamily="34" charset="-122"/>
                <a:cs typeface="Calibri" pitchFamily="34" charset="-120"/>
              </a:rPr>
              <a:t>DAX — calculated columns, KPI measures, and dynamic aggregations</a:t>
            </a:r>
            <a:endParaRPr lang="en-US" sz="1150" dirty="0"/>
          </a:p>
        </p:txBody>
      </p:sp>
      <p:sp>
        <p:nvSpPr>
          <p:cNvPr id="12" name="Text 10"/>
          <p:cNvSpPr/>
          <p:nvPr/>
        </p:nvSpPr>
        <p:spPr>
          <a:xfrm>
            <a:off x="502920" y="2852928"/>
            <a:ext cx="4800600" cy="411480"/>
          </a:xfrm>
          <a:prstGeom prst="rect">
            <a:avLst/>
          </a:prstGeom>
          <a:noFill/>
          <a:ln/>
        </p:spPr>
        <p:txBody>
          <a:bodyPr wrap="square" lIns="0" tIns="0" rIns="0" bIns="0" rtlCol="0" anchor="ctr"/>
          <a:lstStyle/>
          <a:p>
            <a:pPr marL="342900" indent="-342900">
              <a:buSzPct val="100000"/>
              <a:buChar char="•"/>
            </a:pPr>
            <a:r>
              <a:rPr lang="en-US" sz="1150" dirty="0">
                <a:solidFill>
                  <a:srgbClr val="B8C5D6"/>
                </a:solidFill>
                <a:latin typeface="Calibri" pitchFamily="34" charset="0"/>
                <a:ea typeface="Calibri" pitchFamily="34" charset="-122"/>
                <a:cs typeface="Calibri" pitchFamily="34" charset="-120"/>
              </a:rPr>
              <a:t>Interactive slicers: filter by Year, Country, Season across all pages</a:t>
            </a:r>
            <a:endParaRPr lang="en-US" sz="1150" dirty="0"/>
          </a:p>
        </p:txBody>
      </p:sp>
      <p:sp>
        <p:nvSpPr>
          <p:cNvPr id="13" name="Text 11"/>
          <p:cNvSpPr/>
          <p:nvPr/>
        </p:nvSpPr>
        <p:spPr>
          <a:xfrm>
            <a:off x="502920" y="3310128"/>
            <a:ext cx="4800600" cy="411480"/>
          </a:xfrm>
          <a:prstGeom prst="rect">
            <a:avLst/>
          </a:prstGeom>
          <a:noFill/>
          <a:ln/>
        </p:spPr>
        <p:txBody>
          <a:bodyPr wrap="square" lIns="0" tIns="0" rIns="0" bIns="0" rtlCol="0" anchor="ctr"/>
          <a:lstStyle/>
          <a:p>
            <a:pPr marL="342900" indent="-342900">
              <a:buSzPct val="100000"/>
              <a:buChar char="•"/>
            </a:pPr>
            <a:r>
              <a:rPr lang="en-US" sz="1150" dirty="0">
                <a:solidFill>
                  <a:srgbClr val="B8C5D6"/>
                </a:solidFill>
                <a:latin typeface="Calibri" pitchFamily="34" charset="0"/>
                <a:ea typeface="Calibri" pitchFamily="34" charset="-122"/>
                <a:cs typeface="Calibri" pitchFamily="34" charset="-120"/>
              </a:rPr>
              <a:t>Custom visuals: world map, stacked bar, line trend, scatter plot, table</a:t>
            </a:r>
            <a:endParaRPr lang="en-US" sz="1150" dirty="0"/>
          </a:p>
        </p:txBody>
      </p:sp>
      <p:sp>
        <p:nvSpPr>
          <p:cNvPr id="14" name="Text 12"/>
          <p:cNvSpPr/>
          <p:nvPr/>
        </p:nvSpPr>
        <p:spPr>
          <a:xfrm>
            <a:off x="502920" y="3767328"/>
            <a:ext cx="4800600" cy="411480"/>
          </a:xfrm>
          <a:prstGeom prst="rect">
            <a:avLst/>
          </a:prstGeom>
          <a:noFill/>
          <a:ln/>
        </p:spPr>
        <p:txBody>
          <a:bodyPr wrap="square" lIns="0" tIns="0" rIns="0" bIns="0" rtlCol="0" anchor="ctr"/>
          <a:lstStyle/>
          <a:p>
            <a:pPr marL="342900" indent="-342900">
              <a:buSzPct val="100000"/>
              <a:buChar char="•"/>
            </a:pPr>
            <a:r>
              <a:rPr lang="en-US" sz="1150" dirty="0">
                <a:solidFill>
                  <a:srgbClr val="B8C5D6"/>
                </a:solidFill>
                <a:latin typeface="Calibri" pitchFamily="34" charset="0"/>
                <a:ea typeface="Calibri" pitchFamily="34" charset="-122"/>
                <a:cs typeface="Calibri" pitchFamily="34" charset="-120"/>
              </a:rPr>
              <a:t>Cross-page navigation buttons for seamless stakeholder user experience</a:t>
            </a:r>
            <a:endParaRPr lang="en-US" sz="1150" dirty="0"/>
          </a:p>
        </p:txBody>
      </p:sp>
      <p:sp>
        <p:nvSpPr>
          <p:cNvPr id="15" name="Text 13"/>
          <p:cNvSpPr/>
          <p:nvPr/>
        </p:nvSpPr>
        <p:spPr>
          <a:xfrm>
            <a:off x="502920" y="4224528"/>
            <a:ext cx="4800600" cy="411480"/>
          </a:xfrm>
          <a:prstGeom prst="rect">
            <a:avLst/>
          </a:prstGeom>
          <a:noFill/>
          <a:ln/>
        </p:spPr>
        <p:txBody>
          <a:bodyPr wrap="square" lIns="0" tIns="0" rIns="0" bIns="0" rtlCol="0" anchor="ctr"/>
          <a:lstStyle/>
          <a:p>
            <a:pPr marL="342900" indent="-342900">
              <a:buSzPct val="100000"/>
              <a:buChar char="•"/>
            </a:pPr>
            <a:r>
              <a:rPr lang="en-US" sz="1150" dirty="0">
                <a:solidFill>
                  <a:srgbClr val="B8C5D6"/>
                </a:solidFill>
                <a:latin typeface="Calibri" pitchFamily="34" charset="0"/>
                <a:ea typeface="Calibri" pitchFamily="34" charset="-122"/>
                <a:cs typeface="Calibri" pitchFamily="34" charset="-120"/>
              </a:rPr>
              <a:t>6-page dashboard architecture with consistent theme and branding</a:t>
            </a:r>
            <a:endParaRPr lang="en-US" sz="1150" dirty="0"/>
          </a:p>
        </p:txBody>
      </p:sp>
      <p:sp>
        <p:nvSpPr>
          <p:cNvPr id="16" name="Shape 14"/>
          <p:cNvSpPr/>
          <p:nvPr/>
        </p:nvSpPr>
        <p:spPr>
          <a:xfrm>
            <a:off x="5650992" y="1005840"/>
            <a:ext cx="3154680" cy="1143000"/>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5669280" y="1078992"/>
            <a:ext cx="822960" cy="9601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6537960" y="1115568"/>
            <a:ext cx="2148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Microsoft Excel</a:t>
            </a:r>
            <a:endParaRPr lang="en-US" sz="1300" dirty="0"/>
          </a:p>
        </p:txBody>
      </p:sp>
      <p:sp>
        <p:nvSpPr>
          <p:cNvPr id="19" name="Text 17"/>
          <p:cNvSpPr/>
          <p:nvPr/>
        </p:nvSpPr>
        <p:spPr>
          <a:xfrm>
            <a:off x="6537960" y="1463040"/>
            <a:ext cx="2148840" cy="594360"/>
          </a:xfrm>
          <a:prstGeom prst="rect">
            <a:avLst/>
          </a:prstGeom>
          <a:noFill/>
          <a:ln/>
        </p:spPr>
        <p:txBody>
          <a:bodyPr wrap="square" lIns="0" tIns="0" rIns="0" bIns="0" rtlCol="0" anchor="ctr"/>
          <a:lstStyle/>
          <a:p>
            <a:pPr indent="0" marL="0">
              <a:buNone/>
            </a:pPr>
            <a:r>
              <a:rPr lang="en-US" sz="1050" dirty="0">
                <a:solidFill>
                  <a:srgbClr val="7A8FA8"/>
                </a:solidFill>
                <a:latin typeface="Calibri" pitchFamily="34" charset="0"/>
                <a:ea typeface="Calibri" pitchFamily="34" charset="-122"/>
                <a:cs typeface="Calibri" pitchFamily="34" charset="-120"/>
              </a:rPr>
              <a:t>Initial data profiling and column-level quality checks before Power BI import</a:t>
            </a:r>
            <a:endParaRPr lang="en-US" sz="1050" dirty="0"/>
          </a:p>
        </p:txBody>
      </p:sp>
      <p:sp>
        <p:nvSpPr>
          <p:cNvPr id="20" name="Shape 18"/>
          <p:cNvSpPr/>
          <p:nvPr/>
        </p:nvSpPr>
        <p:spPr>
          <a:xfrm>
            <a:off x="5650992" y="2304288"/>
            <a:ext cx="3154680" cy="1143000"/>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5669280" y="2377440"/>
            <a:ext cx="822960" cy="9601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6537960" y="2414016"/>
            <a:ext cx="2148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Power Query (ETL)</a:t>
            </a:r>
            <a:endParaRPr lang="en-US" sz="1300" dirty="0"/>
          </a:p>
        </p:txBody>
      </p:sp>
      <p:sp>
        <p:nvSpPr>
          <p:cNvPr id="23" name="Text 21"/>
          <p:cNvSpPr/>
          <p:nvPr/>
        </p:nvSpPr>
        <p:spPr>
          <a:xfrm>
            <a:off x="6537960" y="2761488"/>
            <a:ext cx="2148840" cy="594360"/>
          </a:xfrm>
          <a:prstGeom prst="rect">
            <a:avLst/>
          </a:prstGeom>
          <a:noFill/>
          <a:ln/>
        </p:spPr>
        <p:txBody>
          <a:bodyPr wrap="square" lIns="0" tIns="0" rIns="0" bIns="0" rtlCol="0" anchor="ctr"/>
          <a:lstStyle/>
          <a:p>
            <a:pPr indent="0" marL="0">
              <a:buNone/>
            </a:pPr>
            <a:r>
              <a:rPr lang="en-US" sz="1050" dirty="0">
                <a:solidFill>
                  <a:srgbClr val="7A8FA8"/>
                </a:solidFill>
                <a:latin typeface="Calibri" pitchFamily="34" charset="0"/>
                <a:ea typeface="Calibri" pitchFamily="34" charset="-122"/>
                <a:cs typeface="Calibri" pitchFamily="34" charset="-120"/>
              </a:rPr>
              <a:t>Data cleaning, null handling, type fixing, and calculated column pipeline</a:t>
            </a:r>
            <a:endParaRPr lang="en-US" sz="1050" dirty="0"/>
          </a:p>
        </p:txBody>
      </p:sp>
      <p:sp>
        <p:nvSpPr>
          <p:cNvPr id="24" name="Shape 22"/>
          <p:cNvSpPr/>
          <p:nvPr/>
        </p:nvSpPr>
        <p:spPr>
          <a:xfrm>
            <a:off x="5650992" y="3602736"/>
            <a:ext cx="3154680" cy="1143000"/>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5669280" y="3675888"/>
            <a:ext cx="822960" cy="9601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4"/>
          <p:cNvSpPr/>
          <p:nvPr/>
        </p:nvSpPr>
        <p:spPr>
          <a:xfrm>
            <a:off x="6537960" y="3712464"/>
            <a:ext cx="21488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DAX Language</a:t>
            </a:r>
            <a:endParaRPr lang="en-US" sz="1300" dirty="0"/>
          </a:p>
        </p:txBody>
      </p:sp>
      <p:sp>
        <p:nvSpPr>
          <p:cNvPr id="27" name="Text 25"/>
          <p:cNvSpPr/>
          <p:nvPr/>
        </p:nvSpPr>
        <p:spPr>
          <a:xfrm>
            <a:off x="6537960" y="4059936"/>
            <a:ext cx="2148840" cy="594360"/>
          </a:xfrm>
          <a:prstGeom prst="rect">
            <a:avLst/>
          </a:prstGeom>
          <a:noFill/>
          <a:ln/>
        </p:spPr>
        <p:txBody>
          <a:bodyPr wrap="square" lIns="0" tIns="0" rIns="0" bIns="0" rtlCol="0" anchor="ctr"/>
          <a:lstStyle/>
          <a:p>
            <a:pPr indent="0" marL="0">
              <a:buNone/>
            </a:pPr>
            <a:r>
              <a:rPr lang="en-US" sz="1050" dirty="0">
                <a:solidFill>
                  <a:srgbClr val="7A8FA8"/>
                </a:solidFill>
                <a:latin typeface="Calibri" pitchFamily="34" charset="0"/>
                <a:ea typeface="Calibri" pitchFamily="34" charset="-122"/>
                <a:cs typeface="Calibri" pitchFamily="34" charset="-120"/>
              </a:rPr>
              <a:t>Measures for total medals, share %, avg per country, and running totals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D4AF37"/>
          </a:solidFill>
          <a:ln w="12700">
            <a:solidFill>
              <a:srgbClr val="D4AF37"/>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D4AF37"/>
                </a:solidFill>
                <a:latin typeface="Calibri" pitchFamily="34" charset="0"/>
                <a:ea typeface="Calibri" pitchFamily="34" charset="-122"/>
                <a:cs typeface="Calibri" pitchFamily="34" charset="-120"/>
              </a:rPr>
              <a:t>DASHBOARD ARCHITECTURE  —  6 Pages</a:t>
            </a:r>
            <a:endParaRPr lang="en-US" sz="2700" dirty="0"/>
          </a:p>
        </p:txBody>
      </p:sp>
      <p:sp>
        <p:nvSpPr>
          <p:cNvPr id="5" name="Shape 3"/>
          <p:cNvSpPr/>
          <p:nvPr/>
        </p:nvSpPr>
        <p:spPr>
          <a:xfrm>
            <a:off x="347472" y="1005840"/>
            <a:ext cx="2724912" cy="17830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47472" y="1005840"/>
            <a:ext cx="2724912" cy="402336"/>
          </a:xfrm>
          <a:prstGeom prst="rect">
            <a:avLst/>
          </a:prstGeom>
          <a:solidFill>
            <a:srgbClr val="1E90FF"/>
          </a:solidFill>
          <a:ln w="12700">
            <a:solidFill>
              <a:srgbClr val="1E90FF"/>
            </a:solidFill>
            <a:prstDash val="solid"/>
          </a:ln>
        </p:spPr>
      </p:sp>
      <p:sp>
        <p:nvSpPr>
          <p:cNvPr id="7" name="Text 5"/>
          <p:cNvSpPr/>
          <p:nvPr/>
        </p:nvSpPr>
        <p:spPr>
          <a:xfrm>
            <a:off x="347472" y="1005840"/>
            <a:ext cx="2724912" cy="402336"/>
          </a:xfrm>
          <a:prstGeom prst="rect">
            <a:avLst/>
          </a:prstGeom>
          <a:noFill/>
          <a:ln/>
        </p:spPr>
        <p:txBody>
          <a:bodyPr wrap="square" lIns="0" tIns="0" rIns="0" bIns="0" rtlCol="0" anchor="ctr"/>
          <a:lstStyle/>
          <a:p>
            <a:pPr algn="ctr" indent="0" marL="0">
              <a:buNone/>
            </a:pPr>
            <a:r>
              <a:rPr lang="en-US" sz="1400" b="1" dirty="0">
                <a:solidFill>
                  <a:srgbClr val="060D1F"/>
                </a:solidFill>
                <a:latin typeface="Calibri" pitchFamily="34" charset="0"/>
                <a:ea typeface="Calibri" pitchFamily="34" charset="-122"/>
                <a:cs typeface="Calibri" pitchFamily="34" charset="-120"/>
              </a:rPr>
              <a:t>P1</a:t>
            </a:r>
            <a:endParaRPr lang="en-US" sz="1400" dirty="0"/>
          </a:p>
        </p:txBody>
      </p:sp>
      <p:sp>
        <p:nvSpPr>
          <p:cNvPr id="8" name="Text 6"/>
          <p:cNvSpPr/>
          <p:nvPr/>
        </p:nvSpPr>
        <p:spPr>
          <a:xfrm>
            <a:off x="457200" y="1481328"/>
            <a:ext cx="2505456"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Intro Page</a:t>
            </a:r>
            <a:endParaRPr lang="en-US" sz="1300" dirty="0"/>
          </a:p>
        </p:txBody>
      </p:sp>
      <p:sp>
        <p:nvSpPr>
          <p:cNvPr id="9" name="Text 7"/>
          <p:cNvSpPr/>
          <p:nvPr/>
        </p:nvSpPr>
        <p:spPr>
          <a:xfrm>
            <a:off x="457200" y="1874520"/>
            <a:ext cx="2505456" cy="80467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Dataset overview, objectives, navigation guide</a:t>
            </a:r>
            <a:endParaRPr lang="en-US" sz="1050" dirty="0"/>
          </a:p>
        </p:txBody>
      </p:sp>
      <p:sp>
        <p:nvSpPr>
          <p:cNvPr id="10" name="Shape 8"/>
          <p:cNvSpPr/>
          <p:nvPr/>
        </p:nvSpPr>
        <p:spPr>
          <a:xfrm>
            <a:off x="3273552" y="1005840"/>
            <a:ext cx="2724912" cy="178308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273552" y="1005840"/>
            <a:ext cx="2724912" cy="402336"/>
          </a:xfrm>
          <a:prstGeom prst="rect">
            <a:avLst/>
          </a:prstGeom>
          <a:solidFill>
            <a:srgbClr val="00B4D8"/>
          </a:solidFill>
          <a:ln w="12700">
            <a:solidFill>
              <a:srgbClr val="00B4D8"/>
            </a:solidFill>
            <a:prstDash val="solid"/>
          </a:ln>
        </p:spPr>
      </p:sp>
      <p:sp>
        <p:nvSpPr>
          <p:cNvPr id="12" name="Text 10"/>
          <p:cNvSpPr/>
          <p:nvPr/>
        </p:nvSpPr>
        <p:spPr>
          <a:xfrm>
            <a:off x="3273552" y="1005840"/>
            <a:ext cx="2724912" cy="402336"/>
          </a:xfrm>
          <a:prstGeom prst="rect">
            <a:avLst/>
          </a:prstGeom>
          <a:noFill/>
          <a:ln/>
        </p:spPr>
        <p:txBody>
          <a:bodyPr wrap="square" lIns="0" tIns="0" rIns="0" bIns="0" rtlCol="0" anchor="ctr"/>
          <a:lstStyle/>
          <a:p>
            <a:pPr algn="ctr" indent="0" marL="0">
              <a:buNone/>
            </a:pPr>
            <a:r>
              <a:rPr lang="en-US" sz="1400" b="1" dirty="0">
                <a:solidFill>
                  <a:srgbClr val="060D1F"/>
                </a:solidFill>
                <a:latin typeface="Calibri" pitchFamily="34" charset="0"/>
                <a:ea typeface="Calibri" pitchFamily="34" charset="-122"/>
                <a:cs typeface="Calibri" pitchFamily="34" charset="-120"/>
              </a:rPr>
              <a:t>P2</a:t>
            </a:r>
            <a:endParaRPr lang="en-US" sz="1400" dirty="0"/>
          </a:p>
        </p:txBody>
      </p:sp>
      <p:sp>
        <p:nvSpPr>
          <p:cNvPr id="13" name="Text 11"/>
          <p:cNvSpPr/>
          <p:nvPr/>
        </p:nvSpPr>
        <p:spPr>
          <a:xfrm>
            <a:off x="3383280" y="1481328"/>
            <a:ext cx="2505456"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Executive Overview</a:t>
            </a:r>
            <a:endParaRPr lang="en-US" sz="1300" dirty="0"/>
          </a:p>
        </p:txBody>
      </p:sp>
      <p:sp>
        <p:nvSpPr>
          <p:cNvPr id="14" name="Text 12"/>
          <p:cNvSpPr/>
          <p:nvPr/>
        </p:nvSpPr>
        <p:spPr>
          <a:xfrm>
            <a:off x="3383280" y="1874520"/>
            <a:ext cx="2505456" cy="80467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KPI cards, medal trend, top nations, continent share</a:t>
            </a:r>
            <a:endParaRPr lang="en-US" sz="1050" dirty="0"/>
          </a:p>
        </p:txBody>
      </p:sp>
      <p:sp>
        <p:nvSpPr>
          <p:cNvPr id="15" name="Shape 13"/>
          <p:cNvSpPr/>
          <p:nvPr/>
        </p:nvSpPr>
        <p:spPr>
          <a:xfrm>
            <a:off x="6199632" y="1005840"/>
            <a:ext cx="2724912" cy="17830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6199632" y="1005840"/>
            <a:ext cx="2724912" cy="402336"/>
          </a:xfrm>
          <a:prstGeom prst="rect">
            <a:avLst/>
          </a:prstGeom>
          <a:solidFill>
            <a:srgbClr val="D4AF37"/>
          </a:solidFill>
          <a:ln w="12700">
            <a:solidFill>
              <a:srgbClr val="D4AF37"/>
            </a:solidFill>
            <a:prstDash val="solid"/>
          </a:ln>
        </p:spPr>
      </p:sp>
      <p:sp>
        <p:nvSpPr>
          <p:cNvPr id="17" name="Text 15"/>
          <p:cNvSpPr/>
          <p:nvPr/>
        </p:nvSpPr>
        <p:spPr>
          <a:xfrm>
            <a:off x="6199632" y="1005840"/>
            <a:ext cx="2724912" cy="402336"/>
          </a:xfrm>
          <a:prstGeom prst="rect">
            <a:avLst/>
          </a:prstGeom>
          <a:noFill/>
          <a:ln/>
        </p:spPr>
        <p:txBody>
          <a:bodyPr wrap="square" lIns="0" tIns="0" rIns="0" bIns="0" rtlCol="0" anchor="ctr"/>
          <a:lstStyle/>
          <a:p>
            <a:pPr algn="ctr" indent="0" marL="0">
              <a:buNone/>
            </a:pPr>
            <a:r>
              <a:rPr lang="en-US" sz="1400" b="1" dirty="0">
                <a:solidFill>
                  <a:srgbClr val="060D1F"/>
                </a:solidFill>
                <a:latin typeface="Calibri" pitchFamily="34" charset="0"/>
                <a:ea typeface="Calibri" pitchFamily="34" charset="-122"/>
                <a:cs typeface="Calibri" pitchFamily="34" charset="-120"/>
              </a:rPr>
              <a:t>P3</a:t>
            </a:r>
            <a:endParaRPr lang="en-US" sz="1400" dirty="0"/>
          </a:p>
        </p:txBody>
      </p:sp>
      <p:sp>
        <p:nvSpPr>
          <p:cNvPr id="18" name="Text 16"/>
          <p:cNvSpPr/>
          <p:nvPr/>
        </p:nvSpPr>
        <p:spPr>
          <a:xfrm>
            <a:off x="6309360" y="1481328"/>
            <a:ext cx="2505456"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Country Performance</a:t>
            </a:r>
            <a:endParaRPr lang="en-US" sz="1300" dirty="0"/>
          </a:p>
        </p:txBody>
      </p:sp>
      <p:sp>
        <p:nvSpPr>
          <p:cNvPr id="19" name="Text 17"/>
          <p:cNvSpPr/>
          <p:nvPr/>
        </p:nvSpPr>
        <p:spPr>
          <a:xfrm>
            <a:off x="6309360" y="1874520"/>
            <a:ext cx="2505456" cy="80467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Medal table, breakdown by country, rank vs medals scatter</a:t>
            </a:r>
            <a:endParaRPr lang="en-US" sz="1050" dirty="0"/>
          </a:p>
        </p:txBody>
      </p:sp>
      <p:sp>
        <p:nvSpPr>
          <p:cNvPr id="20" name="Shape 18"/>
          <p:cNvSpPr/>
          <p:nvPr/>
        </p:nvSpPr>
        <p:spPr>
          <a:xfrm>
            <a:off x="347472" y="2944368"/>
            <a:ext cx="2724912" cy="178308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47472" y="2944368"/>
            <a:ext cx="2724912" cy="402336"/>
          </a:xfrm>
          <a:prstGeom prst="rect">
            <a:avLst/>
          </a:prstGeom>
          <a:solidFill>
            <a:srgbClr val="2DC653"/>
          </a:solidFill>
          <a:ln w="12700">
            <a:solidFill>
              <a:srgbClr val="2DC653"/>
            </a:solidFill>
            <a:prstDash val="solid"/>
          </a:ln>
        </p:spPr>
      </p:sp>
      <p:sp>
        <p:nvSpPr>
          <p:cNvPr id="22" name="Text 20"/>
          <p:cNvSpPr/>
          <p:nvPr/>
        </p:nvSpPr>
        <p:spPr>
          <a:xfrm>
            <a:off x="347472" y="2944368"/>
            <a:ext cx="2724912" cy="402336"/>
          </a:xfrm>
          <a:prstGeom prst="rect">
            <a:avLst/>
          </a:prstGeom>
          <a:noFill/>
          <a:ln/>
        </p:spPr>
        <p:txBody>
          <a:bodyPr wrap="square" lIns="0" tIns="0" rIns="0" bIns="0" rtlCol="0" anchor="ctr"/>
          <a:lstStyle/>
          <a:p>
            <a:pPr algn="ctr" indent="0" marL="0">
              <a:buNone/>
            </a:pPr>
            <a:r>
              <a:rPr lang="en-US" sz="1400" b="1" dirty="0">
                <a:solidFill>
                  <a:srgbClr val="060D1F"/>
                </a:solidFill>
                <a:latin typeface="Calibri" pitchFamily="34" charset="0"/>
                <a:ea typeface="Calibri" pitchFamily="34" charset="-122"/>
                <a:cs typeface="Calibri" pitchFamily="34" charset="-120"/>
              </a:rPr>
              <a:t>P4</a:t>
            </a:r>
            <a:endParaRPr lang="en-US" sz="1400" dirty="0"/>
          </a:p>
        </p:txBody>
      </p:sp>
      <p:sp>
        <p:nvSpPr>
          <p:cNvPr id="23" name="Text 21"/>
          <p:cNvSpPr/>
          <p:nvPr/>
        </p:nvSpPr>
        <p:spPr>
          <a:xfrm>
            <a:off x="457200" y="3419856"/>
            <a:ext cx="2505456"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Sports Performance</a:t>
            </a:r>
            <a:endParaRPr lang="en-US" sz="1300" dirty="0"/>
          </a:p>
        </p:txBody>
      </p:sp>
      <p:sp>
        <p:nvSpPr>
          <p:cNvPr id="24" name="Text 22"/>
          <p:cNvSpPr/>
          <p:nvPr/>
        </p:nvSpPr>
        <p:spPr>
          <a:xfrm>
            <a:off x="457200" y="3813048"/>
            <a:ext cx="2505456" cy="80467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Top / bottom 10 sports, medal distribution by sport</a:t>
            </a:r>
            <a:endParaRPr lang="en-US" sz="1050" dirty="0"/>
          </a:p>
        </p:txBody>
      </p:sp>
      <p:sp>
        <p:nvSpPr>
          <p:cNvPr id="25" name="Shape 23"/>
          <p:cNvSpPr/>
          <p:nvPr/>
        </p:nvSpPr>
        <p:spPr>
          <a:xfrm>
            <a:off x="3273552" y="2944368"/>
            <a:ext cx="2724912" cy="17830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3273552" y="2944368"/>
            <a:ext cx="2724912" cy="402336"/>
          </a:xfrm>
          <a:prstGeom prst="rect">
            <a:avLst/>
          </a:prstGeom>
          <a:solidFill>
            <a:srgbClr val="1E90FF"/>
          </a:solidFill>
          <a:ln w="12700">
            <a:solidFill>
              <a:srgbClr val="1E90FF"/>
            </a:solidFill>
            <a:prstDash val="solid"/>
          </a:ln>
        </p:spPr>
      </p:sp>
      <p:sp>
        <p:nvSpPr>
          <p:cNvPr id="27" name="Text 25"/>
          <p:cNvSpPr/>
          <p:nvPr/>
        </p:nvSpPr>
        <p:spPr>
          <a:xfrm>
            <a:off x="3273552" y="2944368"/>
            <a:ext cx="2724912" cy="402336"/>
          </a:xfrm>
          <a:prstGeom prst="rect">
            <a:avLst/>
          </a:prstGeom>
          <a:noFill/>
          <a:ln/>
        </p:spPr>
        <p:txBody>
          <a:bodyPr wrap="square" lIns="0" tIns="0" rIns="0" bIns="0" rtlCol="0" anchor="ctr"/>
          <a:lstStyle/>
          <a:p>
            <a:pPr algn="ctr" indent="0" marL="0">
              <a:buNone/>
            </a:pPr>
            <a:r>
              <a:rPr lang="en-US" sz="1400" b="1" dirty="0">
                <a:solidFill>
                  <a:srgbClr val="060D1F"/>
                </a:solidFill>
                <a:latin typeface="Calibri" pitchFamily="34" charset="0"/>
                <a:ea typeface="Calibri" pitchFamily="34" charset="-122"/>
                <a:cs typeface="Calibri" pitchFamily="34" charset="-120"/>
              </a:rPr>
              <a:t>P5</a:t>
            </a:r>
            <a:endParaRPr lang="en-US" sz="1400" dirty="0"/>
          </a:p>
        </p:txBody>
      </p:sp>
      <p:sp>
        <p:nvSpPr>
          <p:cNvPr id="28" name="Text 26"/>
          <p:cNvSpPr/>
          <p:nvPr/>
        </p:nvSpPr>
        <p:spPr>
          <a:xfrm>
            <a:off x="3383280" y="3419856"/>
            <a:ext cx="2505456"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Location Analysis</a:t>
            </a:r>
            <a:endParaRPr lang="en-US" sz="1300" dirty="0"/>
          </a:p>
        </p:txBody>
      </p:sp>
      <p:sp>
        <p:nvSpPr>
          <p:cNvPr id="29" name="Text 27"/>
          <p:cNvSpPr/>
          <p:nvPr/>
        </p:nvSpPr>
        <p:spPr>
          <a:xfrm>
            <a:off x="3383280" y="3813048"/>
            <a:ext cx="2505456" cy="80467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Host city map, games timeline, cities frequency bar</a:t>
            </a:r>
            <a:endParaRPr lang="en-US" sz="1050" dirty="0"/>
          </a:p>
        </p:txBody>
      </p:sp>
      <p:sp>
        <p:nvSpPr>
          <p:cNvPr id="30" name="Shape 28"/>
          <p:cNvSpPr/>
          <p:nvPr/>
        </p:nvSpPr>
        <p:spPr>
          <a:xfrm>
            <a:off x="6199632" y="2944368"/>
            <a:ext cx="2724912" cy="178308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6199632" y="2944368"/>
            <a:ext cx="2724912" cy="402336"/>
          </a:xfrm>
          <a:prstGeom prst="rect">
            <a:avLst/>
          </a:prstGeom>
          <a:solidFill>
            <a:srgbClr val="E63946"/>
          </a:solidFill>
          <a:ln w="12700">
            <a:solidFill>
              <a:srgbClr val="E63946"/>
            </a:solidFill>
            <a:prstDash val="solid"/>
          </a:ln>
        </p:spPr>
      </p:sp>
      <p:sp>
        <p:nvSpPr>
          <p:cNvPr id="32" name="Text 30"/>
          <p:cNvSpPr/>
          <p:nvPr/>
        </p:nvSpPr>
        <p:spPr>
          <a:xfrm>
            <a:off x="6199632" y="2944368"/>
            <a:ext cx="2724912" cy="402336"/>
          </a:xfrm>
          <a:prstGeom prst="rect">
            <a:avLst/>
          </a:prstGeom>
          <a:noFill/>
          <a:ln/>
        </p:spPr>
        <p:txBody>
          <a:bodyPr wrap="square" lIns="0" tIns="0" rIns="0" bIns="0" rtlCol="0" anchor="ctr"/>
          <a:lstStyle/>
          <a:p>
            <a:pPr algn="ctr" indent="0" marL="0">
              <a:buNone/>
            </a:pPr>
            <a:r>
              <a:rPr lang="en-US" sz="1400" b="1" dirty="0">
                <a:solidFill>
                  <a:srgbClr val="060D1F"/>
                </a:solidFill>
                <a:latin typeface="Calibri" pitchFamily="34" charset="0"/>
                <a:ea typeface="Calibri" pitchFamily="34" charset="-122"/>
                <a:cs typeface="Calibri" pitchFamily="34" charset="-120"/>
              </a:rPr>
              <a:t>P6</a:t>
            </a:r>
            <a:endParaRPr lang="en-US" sz="1400" dirty="0"/>
          </a:p>
        </p:txBody>
      </p:sp>
      <p:sp>
        <p:nvSpPr>
          <p:cNvPr id="33" name="Text 31"/>
          <p:cNvSpPr/>
          <p:nvPr/>
        </p:nvSpPr>
        <p:spPr>
          <a:xfrm>
            <a:off x="6309360" y="3419856"/>
            <a:ext cx="2505456"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Key Insights &amp; Conclusion</a:t>
            </a:r>
            <a:endParaRPr lang="en-US" sz="1300" dirty="0"/>
          </a:p>
        </p:txBody>
      </p:sp>
      <p:sp>
        <p:nvSpPr>
          <p:cNvPr id="34" name="Text 32"/>
          <p:cNvSpPr/>
          <p:nvPr/>
        </p:nvSpPr>
        <p:spPr>
          <a:xfrm>
            <a:off x="6309360" y="3813048"/>
            <a:ext cx="2505456" cy="80467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Summary findings, top 5 countries chart, conclusions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1E90FF"/>
          </a:solidFill>
          <a:ln w="12700">
            <a:solidFill>
              <a:srgbClr val="1E90FF"/>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1E90FF"/>
                </a:solidFill>
                <a:latin typeface="Calibri" pitchFamily="34" charset="0"/>
                <a:ea typeface="Calibri" pitchFamily="34" charset="-122"/>
                <a:cs typeface="Calibri" pitchFamily="34" charset="-120"/>
              </a:rPr>
              <a:t>DASHBOARD  PAGE 1  —  Intro &amp; Navigation</a:t>
            </a:r>
            <a:endParaRPr lang="en-US" sz="2700" dirty="0"/>
          </a:p>
        </p:txBody>
      </p:sp>
      <p:pic>
        <p:nvPicPr>
          <p:cNvPr id="5" name="Image 0" descr="/mnt/user-data/uploads/Screenshot_2026-03-16_012649.png">    </p:cNvPr>
          <p:cNvPicPr>
            <a:picLocks noChangeAspect="1"/>
          </p:cNvPicPr>
          <p:nvPr/>
        </p:nvPicPr>
        <p:blipFill>
          <a:blip r:embed="rId1"/>
          <a:stretch>
            <a:fillRect/>
          </a:stretch>
        </p:blipFill>
        <p:spPr>
          <a:xfrm>
            <a:off x="347472" y="1005840"/>
            <a:ext cx="5349240" cy="3794760"/>
          </a:xfrm>
          <a:prstGeom prst="rect">
            <a:avLst/>
          </a:prstGeom>
          <a:effectLst>
            <a:outerShdw sx="100000" sy="100000" kx="0" ky="0" algn="bl" rotWithShape="0" blurRad="101600" dist="38100" dir="8100000">
              <a:srgbClr val="000000">
                <a:alpha val="18000"/>
              </a:srgbClr>
            </a:outerShdw>
          </a:effectLst>
        </p:spPr>
      </p:pic>
      <p:sp>
        <p:nvSpPr>
          <p:cNvPr id="6" name="Shape 3"/>
          <p:cNvSpPr/>
          <p:nvPr/>
        </p:nvSpPr>
        <p:spPr>
          <a:xfrm>
            <a:off x="5870448" y="100584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5870448" y="1005840"/>
            <a:ext cx="64008" cy="868680"/>
          </a:xfrm>
          <a:prstGeom prst="rect">
            <a:avLst/>
          </a:prstGeom>
          <a:solidFill>
            <a:srgbClr val="1E90FF"/>
          </a:solidFill>
          <a:ln w="12700">
            <a:solidFill>
              <a:srgbClr val="1E90FF"/>
            </a:solidFill>
            <a:prstDash val="solid"/>
          </a:ln>
        </p:spPr>
      </p:sp>
      <p:sp>
        <p:nvSpPr>
          <p:cNvPr id="8" name="Text 5"/>
          <p:cNvSpPr/>
          <p:nvPr/>
        </p:nvSpPr>
        <p:spPr>
          <a:xfrm>
            <a:off x="6053328" y="107899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Navigation Hub</a:t>
            </a:r>
            <a:endParaRPr lang="en-US" sz="1150" dirty="0"/>
          </a:p>
        </p:txBody>
      </p:sp>
      <p:sp>
        <p:nvSpPr>
          <p:cNvPr id="9" name="Text 6"/>
          <p:cNvSpPr/>
          <p:nvPr/>
        </p:nvSpPr>
        <p:spPr>
          <a:xfrm>
            <a:off x="6053328" y="137160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Six clearly labelled buttons (INTRO → INSIGHTS) let users jump instantly to any dashboard page — critical for non-technical stakeholders.</a:t>
            </a:r>
            <a:endParaRPr lang="en-US" sz="1000" dirty="0"/>
          </a:p>
        </p:txBody>
      </p:sp>
      <p:sp>
        <p:nvSpPr>
          <p:cNvPr id="10" name="Shape 7"/>
          <p:cNvSpPr/>
          <p:nvPr/>
        </p:nvSpPr>
        <p:spPr>
          <a:xfrm>
            <a:off x="5870448" y="196596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5870448" y="1965960"/>
            <a:ext cx="64008" cy="868680"/>
          </a:xfrm>
          <a:prstGeom prst="rect">
            <a:avLst/>
          </a:prstGeom>
          <a:solidFill>
            <a:srgbClr val="1E90FF"/>
          </a:solidFill>
          <a:ln w="12700">
            <a:solidFill>
              <a:srgbClr val="1E90FF"/>
            </a:solidFill>
            <a:prstDash val="solid"/>
          </a:ln>
        </p:spPr>
      </p:sp>
      <p:sp>
        <p:nvSpPr>
          <p:cNvPr id="12" name="Text 9"/>
          <p:cNvSpPr/>
          <p:nvPr/>
        </p:nvSpPr>
        <p:spPr>
          <a:xfrm>
            <a:off x="6053328" y="203911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Dataset Summary</a:t>
            </a:r>
            <a:endParaRPr lang="en-US" sz="1150" dirty="0"/>
          </a:p>
        </p:txBody>
      </p:sp>
      <p:sp>
        <p:nvSpPr>
          <p:cNvPr id="13" name="Text 10"/>
          <p:cNvSpPr/>
          <p:nvPr/>
        </p:nvSpPr>
        <p:spPr>
          <a:xfrm>
            <a:off x="6053328" y="233172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Three information panels cover: About the Dataset, Dashboard Objectives, and Dataset Fields — providing full context before any analysis.</a:t>
            </a:r>
            <a:endParaRPr lang="en-US" sz="1000" dirty="0"/>
          </a:p>
        </p:txBody>
      </p:sp>
      <p:sp>
        <p:nvSpPr>
          <p:cNvPr id="14" name="Shape 11"/>
          <p:cNvSpPr/>
          <p:nvPr/>
        </p:nvSpPr>
        <p:spPr>
          <a:xfrm>
            <a:off x="5870448" y="292608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870448" y="2926080"/>
            <a:ext cx="64008" cy="868680"/>
          </a:xfrm>
          <a:prstGeom prst="rect">
            <a:avLst/>
          </a:prstGeom>
          <a:solidFill>
            <a:srgbClr val="1E90FF"/>
          </a:solidFill>
          <a:ln w="12700">
            <a:solidFill>
              <a:srgbClr val="1E90FF"/>
            </a:solidFill>
            <a:prstDash val="solid"/>
          </a:ln>
        </p:spPr>
      </p:sp>
      <p:sp>
        <p:nvSpPr>
          <p:cNvPr id="16" name="Text 13"/>
          <p:cNvSpPr/>
          <p:nvPr/>
        </p:nvSpPr>
        <p:spPr>
          <a:xfrm>
            <a:off x="6053328" y="299923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Scope &amp; Objectives</a:t>
            </a:r>
            <a:endParaRPr lang="en-US" sz="1150" dirty="0"/>
          </a:p>
        </p:txBody>
      </p:sp>
      <p:sp>
        <p:nvSpPr>
          <p:cNvPr id="17" name="Text 14"/>
          <p:cNvSpPr/>
          <p:nvPr/>
        </p:nvSpPr>
        <p:spPr>
          <a:xfrm>
            <a:off x="6053328" y="329184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Objectives are stated explicitly: analyse medal distribution, identify top sports, study geography, and understand historical trends.</a:t>
            </a:r>
            <a:endParaRPr lang="en-US" sz="1000" dirty="0"/>
          </a:p>
        </p:txBody>
      </p:sp>
      <p:sp>
        <p:nvSpPr>
          <p:cNvPr id="18" name="Shape 15"/>
          <p:cNvSpPr/>
          <p:nvPr/>
        </p:nvSpPr>
        <p:spPr>
          <a:xfrm>
            <a:off x="5870448" y="388620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9" name="Shape 16"/>
          <p:cNvSpPr/>
          <p:nvPr/>
        </p:nvSpPr>
        <p:spPr>
          <a:xfrm>
            <a:off x="5870448" y="3886200"/>
            <a:ext cx="64008" cy="868680"/>
          </a:xfrm>
          <a:prstGeom prst="rect">
            <a:avLst/>
          </a:prstGeom>
          <a:solidFill>
            <a:srgbClr val="1E90FF"/>
          </a:solidFill>
          <a:ln w="12700">
            <a:solidFill>
              <a:srgbClr val="1E90FF"/>
            </a:solidFill>
            <a:prstDash val="solid"/>
          </a:ln>
        </p:spPr>
      </p:sp>
      <p:sp>
        <p:nvSpPr>
          <p:cNvPr id="20" name="Text 17"/>
          <p:cNvSpPr/>
          <p:nvPr/>
        </p:nvSpPr>
        <p:spPr>
          <a:xfrm>
            <a:off x="6053328" y="395935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Field Directory</a:t>
            </a:r>
            <a:endParaRPr lang="en-US" sz="1150" dirty="0"/>
          </a:p>
        </p:txBody>
      </p:sp>
      <p:sp>
        <p:nvSpPr>
          <p:cNvPr id="21" name="Text 18"/>
          <p:cNvSpPr/>
          <p:nvPr/>
        </p:nvSpPr>
        <p:spPr>
          <a:xfrm>
            <a:off x="6053328" y="425196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All 7 key field categories are listed so any user understands the data dimensions being visualised before interacting with filters.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00B4D8"/>
          </a:solidFill>
          <a:ln w="12700">
            <a:solidFill>
              <a:srgbClr val="00B4D8"/>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00B4D8"/>
                </a:solidFill>
                <a:latin typeface="Calibri" pitchFamily="34" charset="0"/>
                <a:ea typeface="Calibri" pitchFamily="34" charset="-122"/>
                <a:cs typeface="Calibri" pitchFamily="34" charset="-120"/>
              </a:rPr>
              <a:t>DASHBOARD  PAGE 2  —  Executive Overview</a:t>
            </a:r>
            <a:endParaRPr lang="en-US" sz="2700" dirty="0"/>
          </a:p>
        </p:txBody>
      </p:sp>
      <p:pic>
        <p:nvPicPr>
          <p:cNvPr id="5" name="Image 0" descr="/mnt/user-data/uploads/Screenshot_2026-03-16_012729.png">    </p:cNvPr>
          <p:cNvPicPr>
            <a:picLocks noChangeAspect="1"/>
          </p:cNvPicPr>
          <p:nvPr/>
        </p:nvPicPr>
        <p:blipFill>
          <a:blip r:embed="rId1"/>
          <a:stretch>
            <a:fillRect/>
          </a:stretch>
        </p:blipFill>
        <p:spPr>
          <a:xfrm>
            <a:off x="347472" y="1005840"/>
            <a:ext cx="5349240" cy="3794760"/>
          </a:xfrm>
          <a:prstGeom prst="rect">
            <a:avLst/>
          </a:prstGeom>
          <a:effectLst>
            <a:outerShdw sx="100000" sy="100000" kx="0" ky="0" algn="bl" rotWithShape="0" blurRad="101600" dist="38100" dir="8100000">
              <a:srgbClr val="000000">
                <a:alpha val="18000"/>
              </a:srgbClr>
            </a:outerShdw>
          </a:effectLst>
        </p:spPr>
      </p:pic>
      <p:sp>
        <p:nvSpPr>
          <p:cNvPr id="6" name="Shape 3"/>
          <p:cNvSpPr/>
          <p:nvPr/>
        </p:nvSpPr>
        <p:spPr>
          <a:xfrm>
            <a:off x="5870448" y="1005840"/>
            <a:ext cx="2926080" cy="86868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5870448" y="1005840"/>
            <a:ext cx="64008" cy="868680"/>
          </a:xfrm>
          <a:prstGeom prst="rect">
            <a:avLst/>
          </a:prstGeom>
          <a:solidFill>
            <a:srgbClr val="00B4D8"/>
          </a:solidFill>
          <a:ln w="12700">
            <a:solidFill>
              <a:srgbClr val="00B4D8"/>
            </a:solidFill>
            <a:prstDash val="solid"/>
          </a:ln>
        </p:spPr>
      </p:sp>
      <p:sp>
        <p:nvSpPr>
          <p:cNvPr id="8" name="Text 5"/>
          <p:cNvSpPr/>
          <p:nvPr/>
        </p:nvSpPr>
        <p:spPr>
          <a:xfrm>
            <a:off x="6053328" y="107899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5 KPI Cards</a:t>
            </a:r>
            <a:endParaRPr lang="en-US" sz="1150" dirty="0"/>
          </a:p>
        </p:txBody>
      </p:sp>
      <p:sp>
        <p:nvSpPr>
          <p:cNvPr id="9" name="Text 6"/>
          <p:cNvSpPr/>
          <p:nvPr/>
        </p:nvSpPr>
        <p:spPr>
          <a:xfrm>
            <a:off x="6053328" y="137160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73 Countries · 26 Games · 16K Medals · 35 Sports · 198 Avg Medals per Country — the entire project scope at a glance.</a:t>
            </a:r>
            <a:endParaRPr lang="en-US" sz="1000" dirty="0"/>
          </a:p>
        </p:txBody>
      </p:sp>
      <p:sp>
        <p:nvSpPr>
          <p:cNvPr id="10" name="Shape 7"/>
          <p:cNvSpPr/>
          <p:nvPr/>
        </p:nvSpPr>
        <p:spPr>
          <a:xfrm>
            <a:off x="5870448" y="1965960"/>
            <a:ext cx="2926080" cy="86868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5870448" y="1965960"/>
            <a:ext cx="64008" cy="868680"/>
          </a:xfrm>
          <a:prstGeom prst="rect">
            <a:avLst/>
          </a:prstGeom>
          <a:solidFill>
            <a:srgbClr val="00B4D8"/>
          </a:solidFill>
          <a:ln w="12700">
            <a:solidFill>
              <a:srgbClr val="00B4D8"/>
            </a:solidFill>
            <a:prstDash val="solid"/>
          </a:ln>
        </p:spPr>
      </p:sp>
      <p:sp>
        <p:nvSpPr>
          <p:cNvPr id="12" name="Text 9"/>
          <p:cNvSpPr/>
          <p:nvPr/>
        </p:nvSpPr>
        <p:spPr>
          <a:xfrm>
            <a:off x="6053328" y="203911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Medal Trend (1960–2020)</a:t>
            </a:r>
            <a:endParaRPr lang="en-US" sz="1150" dirty="0"/>
          </a:p>
        </p:txBody>
      </p:sp>
      <p:sp>
        <p:nvSpPr>
          <p:cNvPr id="13" name="Text 10"/>
          <p:cNvSpPr/>
          <p:nvPr/>
        </p:nvSpPr>
        <p:spPr>
          <a:xfrm>
            <a:off x="6053328" y="233172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Area-line chart showing medal volume oscillates between Summer and Winter Games. Clear growth from 282 (1960) to peaks above 1,800 in 1980s.</a:t>
            </a:r>
            <a:endParaRPr lang="en-US" sz="1000" dirty="0"/>
          </a:p>
        </p:txBody>
      </p:sp>
      <p:sp>
        <p:nvSpPr>
          <p:cNvPr id="14" name="Shape 11"/>
          <p:cNvSpPr/>
          <p:nvPr/>
        </p:nvSpPr>
        <p:spPr>
          <a:xfrm>
            <a:off x="5870448" y="2926080"/>
            <a:ext cx="2926080" cy="86868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870448" y="2926080"/>
            <a:ext cx="64008" cy="868680"/>
          </a:xfrm>
          <a:prstGeom prst="rect">
            <a:avLst/>
          </a:prstGeom>
          <a:solidFill>
            <a:srgbClr val="00B4D8"/>
          </a:solidFill>
          <a:ln w="12700">
            <a:solidFill>
              <a:srgbClr val="00B4D8"/>
            </a:solidFill>
            <a:prstDash val="solid"/>
          </a:ln>
        </p:spPr>
      </p:sp>
      <p:sp>
        <p:nvSpPr>
          <p:cNvPr id="16" name="Text 13"/>
          <p:cNvSpPr/>
          <p:nvPr/>
        </p:nvSpPr>
        <p:spPr>
          <a:xfrm>
            <a:off x="6053328" y="299923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Top Performing Nations</a:t>
            </a:r>
            <a:endParaRPr lang="en-US" sz="1150" dirty="0"/>
          </a:p>
        </p:txBody>
      </p:sp>
      <p:sp>
        <p:nvSpPr>
          <p:cNvPr id="17" name="Text 14"/>
          <p:cNvSpPr/>
          <p:nvPr/>
        </p:nvSpPr>
        <p:spPr>
          <a:xfrm>
            <a:off x="6053328" y="329184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Horizontal bar: USA leads at 2,062 medals, followed by Germany (1,462) and United Kingdom (1,407). Strong western dominance visible.</a:t>
            </a:r>
            <a:endParaRPr lang="en-US" sz="1000" dirty="0"/>
          </a:p>
        </p:txBody>
      </p:sp>
      <p:sp>
        <p:nvSpPr>
          <p:cNvPr id="18" name="Shape 15"/>
          <p:cNvSpPr/>
          <p:nvPr/>
        </p:nvSpPr>
        <p:spPr>
          <a:xfrm>
            <a:off x="5870448" y="3886200"/>
            <a:ext cx="2926080" cy="86868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19" name="Shape 16"/>
          <p:cNvSpPr/>
          <p:nvPr/>
        </p:nvSpPr>
        <p:spPr>
          <a:xfrm>
            <a:off x="5870448" y="3886200"/>
            <a:ext cx="64008" cy="868680"/>
          </a:xfrm>
          <a:prstGeom prst="rect">
            <a:avLst/>
          </a:prstGeom>
          <a:solidFill>
            <a:srgbClr val="00B4D8"/>
          </a:solidFill>
          <a:ln w="12700">
            <a:solidFill>
              <a:srgbClr val="00B4D8"/>
            </a:solidFill>
            <a:prstDash val="solid"/>
          </a:ln>
        </p:spPr>
      </p:sp>
      <p:sp>
        <p:nvSpPr>
          <p:cNvPr id="20" name="Text 17"/>
          <p:cNvSpPr/>
          <p:nvPr/>
        </p:nvSpPr>
        <p:spPr>
          <a:xfrm>
            <a:off x="6053328" y="395935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Medal Share by Continent</a:t>
            </a:r>
            <a:endParaRPr lang="en-US" sz="1150" dirty="0"/>
          </a:p>
        </p:txBody>
      </p:sp>
      <p:sp>
        <p:nvSpPr>
          <p:cNvPr id="21" name="Text 18"/>
          <p:cNvSpPr/>
          <p:nvPr/>
        </p:nvSpPr>
        <p:spPr>
          <a:xfrm>
            <a:off x="6053328" y="425196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Europe dominates with ~6K medals, more than Americas and Asia combined — reinforcing the geographic concentration insight.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D4AF37"/>
          </a:solidFill>
          <a:ln w="12700">
            <a:solidFill>
              <a:srgbClr val="D4AF37"/>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D4AF37"/>
                </a:solidFill>
                <a:latin typeface="Calibri" pitchFamily="34" charset="0"/>
                <a:ea typeface="Calibri" pitchFamily="34" charset="-122"/>
                <a:cs typeface="Calibri" pitchFamily="34" charset="-120"/>
              </a:rPr>
              <a:t>KPI ANALYSIS  —  What the Numbers Reveal</a:t>
            </a:r>
            <a:endParaRPr lang="en-US" sz="2700" dirty="0"/>
          </a:p>
        </p:txBody>
      </p:sp>
      <p:sp>
        <p:nvSpPr>
          <p:cNvPr id="5" name="Shape 3"/>
          <p:cNvSpPr/>
          <p:nvPr/>
        </p:nvSpPr>
        <p:spPr>
          <a:xfrm>
            <a:off x="347472" y="1005840"/>
            <a:ext cx="2697480" cy="160020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47472" y="1005840"/>
            <a:ext cx="2697480" cy="54864"/>
          </a:xfrm>
          <a:prstGeom prst="rect">
            <a:avLst/>
          </a:prstGeom>
          <a:solidFill>
            <a:srgbClr val="1E90FF"/>
          </a:solidFill>
          <a:ln w="12700">
            <a:solidFill>
              <a:srgbClr val="1E90FF"/>
            </a:solidFill>
            <a:prstDash val="solid"/>
          </a:ln>
        </p:spPr>
      </p:sp>
      <p:sp>
        <p:nvSpPr>
          <p:cNvPr id="7" name="Text 5"/>
          <p:cNvSpPr/>
          <p:nvPr/>
        </p:nvSpPr>
        <p:spPr>
          <a:xfrm>
            <a:off x="347472" y="1097280"/>
            <a:ext cx="2697480" cy="658368"/>
          </a:xfrm>
          <a:prstGeom prst="rect">
            <a:avLst/>
          </a:prstGeom>
          <a:noFill/>
          <a:ln/>
        </p:spPr>
        <p:txBody>
          <a:bodyPr wrap="square" lIns="0" tIns="0" rIns="0" bIns="0" rtlCol="0" anchor="ctr"/>
          <a:lstStyle/>
          <a:p>
            <a:pPr algn="ctr" indent="0" marL="0">
              <a:buNone/>
            </a:pPr>
            <a:r>
              <a:rPr lang="en-US" sz="3800" b="1" dirty="0">
                <a:solidFill>
                  <a:srgbClr val="1E90FF"/>
                </a:solidFill>
                <a:latin typeface="Calibri" pitchFamily="34" charset="0"/>
                <a:ea typeface="Calibri" pitchFamily="34" charset="-122"/>
                <a:cs typeface="Calibri" pitchFamily="34" charset="-120"/>
              </a:rPr>
              <a:t>73</a:t>
            </a:r>
            <a:endParaRPr lang="en-US" sz="3800" dirty="0"/>
          </a:p>
        </p:txBody>
      </p:sp>
      <p:sp>
        <p:nvSpPr>
          <p:cNvPr id="8" name="Text 6"/>
          <p:cNvSpPr/>
          <p:nvPr/>
        </p:nvSpPr>
        <p:spPr>
          <a:xfrm>
            <a:off x="347472" y="1764792"/>
            <a:ext cx="2697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Countries</a:t>
            </a:r>
            <a:endParaRPr lang="en-US" sz="1200" dirty="0"/>
          </a:p>
        </p:txBody>
      </p:sp>
      <p:sp>
        <p:nvSpPr>
          <p:cNvPr id="9" name="Text 7"/>
          <p:cNvSpPr/>
          <p:nvPr/>
        </p:nvSpPr>
        <p:spPr>
          <a:xfrm>
            <a:off x="457200" y="2039112"/>
            <a:ext cx="2478024" cy="493776"/>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73 NPC nations participated across the 1960–2018 period. Yet the medal table is dominated by fewer than 10 — a 14% participation-to-dominance ratio.</a:t>
            </a:r>
            <a:endParaRPr lang="en-US" sz="1000" dirty="0"/>
          </a:p>
        </p:txBody>
      </p:sp>
      <p:sp>
        <p:nvSpPr>
          <p:cNvPr id="10" name="Shape 8"/>
          <p:cNvSpPr/>
          <p:nvPr/>
        </p:nvSpPr>
        <p:spPr>
          <a:xfrm>
            <a:off x="3227832" y="1005840"/>
            <a:ext cx="2697480" cy="160020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227832" y="1005840"/>
            <a:ext cx="2697480" cy="54864"/>
          </a:xfrm>
          <a:prstGeom prst="rect">
            <a:avLst/>
          </a:prstGeom>
          <a:solidFill>
            <a:srgbClr val="00B4D8"/>
          </a:solidFill>
          <a:ln w="12700">
            <a:solidFill>
              <a:srgbClr val="00B4D8"/>
            </a:solidFill>
            <a:prstDash val="solid"/>
          </a:ln>
        </p:spPr>
      </p:sp>
      <p:sp>
        <p:nvSpPr>
          <p:cNvPr id="12" name="Text 10"/>
          <p:cNvSpPr/>
          <p:nvPr/>
        </p:nvSpPr>
        <p:spPr>
          <a:xfrm>
            <a:off x="3227832" y="1097280"/>
            <a:ext cx="2697480" cy="658368"/>
          </a:xfrm>
          <a:prstGeom prst="rect">
            <a:avLst/>
          </a:prstGeom>
          <a:noFill/>
          <a:ln/>
        </p:spPr>
        <p:txBody>
          <a:bodyPr wrap="square" lIns="0" tIns="0" rIns="0" bIns="0" rtlCol="0" anchor="ctr"/>
          <a:lstStyle/>
          <a:p>
            <a:pPr algn="ctr" indent="0" marL="0">
              <a:buNone/>
            </a:pPr>
            <a:r>
              <a:rPr lang="en-US" sz="3800" b="1" dirty="0">
                <a:solidFill>
                  <a:srgbClr val="00B4D8"/>
                </a:solidFill>
                <a:latin typeface="Calibri" pitchFamily="34" charset="0"/>
                <a:ea typeface="Calibri" pitchFamily="34" charset="-122"/>
                <a:cs typeface="Calibri" pitchFamily="34" charset="-120"/>
              </a:rPr>
              <a:t>26</a:t>
            </a:r>
            <a:endParaRPr lang="en-US" sz="3800" dirty="0"/>
          </a:p>
        </p:txBody>
      </p:sp>
      <p:sp>
        <p:nvSpPr>
          <p:cNvPr id="13" name="Text 11"/>
          <p:cNvSpPr/>
          <p:nvPr/>
        </p:nvSpPr>
        <p:spPr>
          <a:xfrm>
            <a:off x="3227832" y="1764792"/>
            <a:ext cx="2697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Games Editions</a:t>
            </a:r>
            <a:endParaRPr lang="en-US" sz="1200" dirty="0"/>
          </a:p>
        </p:txBody>
      </p:sp>
      <p:sp>
        <p:nvSpPr>
          <p:cNvPr id="14" name="Text 12"/>
          <p:cNvSpPr/>
          <p:nvPr/>
        </p:nvSpPr>
        <p:spPr>
          <a:xfrm>
            <a:off x="3337560" y="2039112"/>
            <a:ext cx="2478024" cy="493776"/>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26 editions across Summer and Winter Games. Summer Games generate 4–5× more medals per edition than Winter Games.</a:t>
            </a:r>
            <a:endParaRPr lang="en-US" sz="1000" dirty="0"/>
          </a:p>
        </p:txBody>
      </p:sp>
      <p:sp>
        <p:nvSpPr>
          <p:cNvPr id="15" name="Shape 13"/>
          <p:cNvSpPr/>
          <p:nvPr/>
        </p:nvSpPr>
        <p:spPr>
          <a:xfrm>
            <a:off x="6108192" y="1005840"/>
            <a:ext cx="2697480" cy="160020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6108192" y="1005840"/>
            <a:ext cx="2697480" cy="54864"/>
          </a:xfrm>
          <a:prstGeom prst="rect">
            <a:avLst/>
          </a:prstGeom>
          <a:solidFill>
            <a:srgbClr val="D4AF37"/>
          </a:solidFill>
          <a:ln w="12700">
            <a:solidFill>
              <a:srgbClr val="D4AF37"/>
            </a:solidFill>
            <a:prstDash val="solid"/>
          </a:ln>
        </p:spPr>
      </p:sp>
      <p:sp>
        <p:nvSpPr>
          <p:cNvPr id="17" name="Text 15"/>
          <p:cNvSpPr/>
          <p:nvPr/>
        </p:nvSpPr>
        <p:spPr>
          <a:xfrm>
            <a:off x="6108192" y="1097280"/>
            <a:ext cx="2697480" cy="658368"/>
          </a:xfrm>
          <a:prstGeom prst="rect">
            <a:avLst/>
          </a:prstGeom>
          <a:noFill/>
          <a:ln/>
        </p:spPr>
        <p:txBody>
          <a:bodyPr wrap="square" lIns="0" tIns="0" rIns="0" bIns="0" rtlCol="0" anchor="ctr"/>
          <a:lstStyle/>
          <a:p>
            <a:pPr algn="ctr" indent="0" marL="0">
              <a:buNone/>
            </a:pPr>
            <a:r>
              <a:rPr lang="en-US" sz="3800" b="1" dirty="0">
                <a:solidFill>
                  <a:srgbClr val="D4AF37"/>
                </a:solidFill>
                <a:latin typeface="Calibri" pitchFamily="34" charset="0"/>
                <a:ea typeface="Calibri" pitchFamily="34" charset="-122"/>
                <a:cs typeface="Calibri" pitchFamily="34" charset="-120"/>
              </a:rPr>
              <a:t>16K</a:t>
            </a:r>
            <a:endParaRPr lang="en-US" sz="3800" dirty="0"/>
          </a:p>
        </p:txBody>
      </p:sp>
      <p:sp>
        <p:nvSpPr>
          <p:cNvPr id="18" name="Text 16"/>
          <p:cNvSpPr/>
          <p:nvPr/>
        </p:nvSpPr>
        <p:spPr>
          <a:xfrm>
            <a:off x="6108192" y="1764792"/>
            <a:ext cx="2697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Medals</a:t>
            </a:r>
            <a:endParaRPr lang="en-US" sz="1200" dirty="0"/>
          </a:p>
        </p:txBody>
      </p:sp>
      <p:sp>
        <p:nvSpPr>
          <p:cNvPr id="19" name="Text 17"/>
          <p:cNvSpPr/>
          <p:nvPr/>
        </p:nvSpPr>
        <p:spPr>
          <a:xfrm>
            <a:off x="6217920" y="2039112"/>
            <a:ext cx="2478024" cy="493776"/>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16,000+ medal records. The top 5 countries account for over 40% of all medals — a stark concentration metric.</a:t>
            </a:r>
            <a:endParaRPr lang="en-US" sz="1000" dirty="0"/>
          </a:p>
        </p:txBody>
      </p:sp>
      <p:sp>
        <p:nvSpPr>
          <p:cNvPr id="20" name="Shape 18"/>
          <p:cNvSpPr/>
          <p:nvPr/>
        </p:nvSpPr>
        <p:spPr>
          <a:xfrm>
            <a:off x="347472" y="3063240"/>
            <a:ext cx="4187952" cy="160020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47472" y="3063240"/>
            <a:ext cx="4187952" cy="54864"/>
          </a:xfrm>
          <a:prstGeom prst="rect">
            <a:avLst/>
          </a:prstGeom>
          <a:solidFill>
            <a:srgbClr val="2DC653"/>
          </a:solidFill>
          <a:ln w="12700">
            <a:solidFill>
              <a:srgbClr val="2DC653"/>
            </a:solidFill>
            <a:prstDash val="solid"/>
          </a:ln>
        </p:spPr>
      </p:sp>
      <p:sp>
        <p:nvSpPr>
          <p:cNvPr id="22" name="Text 20"/>
          <p:cNvSpPr/>
          <p:nvPr/>
        </p:nvSpPr>
        <p:spPr>
          <a:xfrm>
            <a:off x="347472" y="3154680"/>
            <a:ext cx="4187952" cy="658368"/>
          </a:xfrm>
          <a:prstGeom prst="rect">
            <a:avLst/>
          </a:prstGeom>
          <a:noFill/>
          <a:ln/>
        </p:spPr>
        <p:txBody>
          <a:bodyPr wrap="square" lIns="0" tIns="0" rIns="0" bIns="0" rtlCol="0" anchor="ctr"/>
          <a:lstStyle/>
          <a:p>
            <a:pPr algn="ctr" indent="0" marL="0">
              <a:buNone/>
            </a:pPr>
            <a:r>
              <a:rPr lang="en-US" sz="3800" b="1" dirty="0">
                <a:solidFill>
                  <a:srgbClr val="2DC653"/>
                </a:solidFill>
                <a:latin typeface="Calibri" pitchFamily="34" charset="0"/>
                <a:ea typeface="Calibri" pitchFamily="34" charset="-122"/>
                <a:cs typeface="Calibri" pitchFamily="34" charset="-120"/>
              </a:rPr>
              <a:t>35</a:t>
            </a:r>
            <a:endParaRPr lang="en-US" sz="3800" dirty="0"/>
          </a:p>
        </p:txBody>
      </p:sp>
      <p:sp>
        <p:nvSpPr>
          <p:cNvPr id="23" name="Text 21"/>
          <p:cNvSpPr/>
          <p:nvPr/>
        </p:nvSpPr>
        <p:spPr>
          <a:xfrm>
            <a:off x="347472" y="3822192"/>
            <a:ext cx="418795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Sports</a:t>
            </a:r>
            <a:endParaRPr lang="en-US" sz="1200" dirty="0"/>
          </a:p>
        </p:txBody>
      </p:sp>
      <p:sp>
        <p:nvSpPr>
          <p:cNvPr id="24" name="Text 22"/>
          <p:cNvSpPr/>
          <p:nvPr/>
        </p:nvSpPr>
        <p:spPr>
          <a:xfrm>
            <a:off x="457200" y="4096512"/>
            <a:ext cx="3968496" cy="493776"/>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35 sports disciplines tracked. Athletics and Swimming alone contribute the highest medal counts, creating inherent advantages for specialist nations.</a:t>
            </a:r>
            <a:endParaRPr lang="en-US" sz="1000" dirty="0"/>
          </a:p>
        </p:txBody>
      </p:sp>
      <p:sp>
        <p:nvSpPr>
          <p:cNvPr id="25" name="Shape 23"/>
          <p:cNvSpPr/>
          <p:nvPr/>
        </p:nvSpPr>
        <p:spPr>
          <a:xfrm>
            <a:off x="4709160" y="3063240"/>
            <a:ext cx="4087368" cy="160020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709160" y="3063240"/>
            <a:ext cx="4087368" cy="54864"/>
          </a:xfrm>
          <a:prstGeom prst="rect">
            <a:avLst/>
          </a:prstGeom>
          <a:solidFill>
            <a:srgbClr val="E63946"/>
          </a:solidFill>
          <a:ln w="12700">
            <a:solidFill>
              <a:srgbClr val="E63946"/>
            </a:solidFill>
            <a:prstDash val="solid"/>
          </a:ln>
        </p:spPr>
      </p:sp>
      <p:sp>
        <p:nvSpPr>
          <p:cNvPr id="27" name="Text 25"/>
          <p:cNvSpPr/>
          <p:nvPr/>
        </p:nvSpPr>
        <p:spPr>
          <a:xfrm>
            <a:off x="4709160" y="3154680"/>
            <a:ext cx="4087368" cy="658368"/>
          </a:xfrm>
          <a:prstGeom prst="rect">
            <a:avLst/>
          </a:prstGeom>
          <a:noFill/>
          <a:ln/>
        </p:spPr>
        <p:txBody>
          <a:bodyPr wrap="square" lIns="0" tIns="0" rIns="0" bIns="0" rtlCol="0" anchor="ctr"/>
          <a:lstStyle/>
          <a:p>
            <a:pPr algn="ctr" indent="0" marL="0">
              <a:buNone/>
            </a:pPr>
            <a:r>
              <a:rPr lang="en-US" sz="3800" b="1" dirty="0">
                <a:solidFill>
                  <a:srgbClr val="E63946"/>
                </a:solidFill>
                <a:latin typeface="Calibri" pitchFamily="34" charset="0"/>
                <a:ea typeface="Calibri" pitchFamily="34" charset="-122"/>
                <a:cs typeface="Calibri" pitchFamily="34" charset="-120"/>
              </a:rPr>
              <a:t>198</a:t>
            </a:r>
            <a:endParaRPr lang="en-US" sz="3800" dirty="0"/>
          </a:p>
        </p:txBody>
      </p:sp>
      <p:sp>
        <p:nvSpPr>
          <p:cNvPr id="28" name="Text 26"/>
          <p:cNvSpPr/>
          <p:nvPr/>
        </p:nvSpPr>
        <p:spPr>
          <a:xfrm>
            <a:off x="4709160" y="3822192"/>
            <a:ext cx="408736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Avg / Country</a:t>
            </a:r>
            <a:endParaRPr lang="en-US" sz="1200" dirty="0"/>
          </a:p>
        </p:txBody>
      </p:sp>
      <p:sp>
        <p:nvSpPr>
          <p:cNvPr id="29" name="Text 27"/>
          <p:cNvSpPr/>
          <p:nvPr/>
        </p:nvSpPr>
        <p:spPr>
          <a:xfrm>
            <a:off x="4818888" y="4096512"/>
            <a:ext cx="3867912" cy="493776"/>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Average of 198 medals per country across the full dataset — but the median is far lower, indicating extreme right-skew driven by top performers.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D4AF37"/>
          </a:solidFill>
          <a:ln w="12700">
            <a:solidFill>
              <a:srgbClr val="D4AF37"/>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D4AF37"/>
                </a:solidFill>
                <a:latin typeface="Calibri" pitchFamily="34" charset="0"/>
                <a:ea typeface="Calibri" pitchFamily="34" charset="-122"/>
                <a:cs typeface="Calibri" pitchFamily="34" charset="-120"/>
              </a:rPr>
              <a:t>DASHBOARD  PAGE 3  —  Country Performance Analysis</a:t>
            </a:r>
            <a:endParaRPr lang="en-US" sz="2700" dirty="0"/>
          </a:p>
        </p:txBody>
      </p:sp>
      <p:pic>
        <p:nvPicPr>
          <p:cNvPr id="5" name="Image 0" descr="/mnt/user-data/uploads/Screenshot_2026-03-16_012804.png">    </p:cNvPr>
          <p:cNvPicPr>
            <a:picLocks noChangeAspect="1"/>
          </p:cNvPicPr>
          <p:nvPr/>
        </p:nvPicPr>
        <p:blipFill>
          <a:blip r:embed="rId1"/>
          <a:stretch>
            <a:fillRect/>
          </a:stretch>
        </p:blipFill>
        <p:spPr>
          <a:xfrm>
            <a:off x="347472" y="1005840"/>
            <a:ext cx="5349240" cy="3794760"/>
          </a:xfrm>
          <a:prstGeom prst="rect">
            <a:avLst/>
          </a:prstGeom>
          <a:effectLst>
            <a:outerShdw sx="100000" sy="100000" kx="0" ky="0" algn="bl" rotWithShape="0" blurRad="101600" dist="38100" dir="8100000">
              <a:srgbClr val="000000">
                <a:alpha val="18000"/>
              </a:srgbClr>
            </a:outerShdw>
          </a:effectLst>
        </p:spPr>
      </p:pic>
      <p:sp>
        <p:nvSpPr>
          <p:cNvPr id="6" name="Shape 3"/>
          <p:cNvSpPr/>
          <p:nvPr/>
        </p:nvSpPr>
        <p:spPr>
          <a:xfrm>
            <a:off x="5870448" y="100584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5870448" y="1005840"/>
            <a:ext cx="64008" cy="868680"/>
          </a:xfrm>
          <a:prstGeom prst="rect">
            <a:avLst/>
          </a:prstGeom>
          <a:solidFill>
            <a:srgbClr val="D4AF37"/>
          </a:solidFill>
          <a:ln w="12700">
            <a:solidFill>
              <a:srgbClr val="D4AF37"/>
            </a:solidFill>
            <a:prstDash val="solid"/>
          </a:ln>
        </p:spPr>
      </p:sp>
      <p:sp>
        <p:nvSpPr>
          <p:cNvPr id="8" name="Text 5"/>
          <p:cNvSpPr/>
          <p:nvPr/>
        </p:nvSpPr>
        <p:spPr>
          <a:xfrm>
            <a:off x="6053328" y="107899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Interactive Filters</a:t>
            </a:r>
            <a:endParaRPr lang="en-US" sz="1150" dirty="0"/>
          </a:p>
        </p:txBody>
      </p:sp>
      <p:sp>
        <p:nvSpPr>
          <p:cNvPr id="9" name="Text 6"/>
          <p:cNvSpPr/>
          <p:nvPr/>
        </p:nvSpPr>
        <p:spPr>
          <a:xfrm>
            <a:off x="6053328" y="137160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Year slider (1960–2018) and Country dropdown allow drill-down into any nation's performance trajectory over time.</a:t>
            </a:r>
            <a:endParaRPr lang="en-US" sz="1000" dirty="0"/>
          </a:p>
        </p:txBody>
      </p:sp>
      <p:sp>
        <p:nvSpPr>
          <p:cNvPr id="10" name="Shape 7"/>
          <p:cNvSpPr/>
          <p:nvPr/>
        </p:nvSpPr>
        <p:spPr>
          <a:xfrm>
            <a:off x="5870448" y="196596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5870448" y="1965960"/>
            <a:ext cx="64008" cy="868680"/>
          </a:xfrm>
          <a:prstGeom prst="rect">
            <a:avLst/>
          </a:prstGeom>
          <a:solidFill>
            <a:srgbClr val="D4AF37"/>
          </a:solidFill>
          <a:ln w="12700">
            <a:solidFill>
              <a:srgbClr val="D4AF37"/>
            </a:solidFill>
            <a:prstDash val="solid"/>
          </a:ln>
        </p:spPr>
      </p:sp>
      <p:sp>
        <p:nvSpPr>
          <p:cNvPr id="12" name="Text 9"/>
          <p:cNvSpPr/>
          <p:nvPr/>
        </p:nvSpPr>
        <p:spPr>
          <a:xfrm>
            <a:off x="6053328" y="203911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Medal Breakdown Chart</a:t>
            </a:r>
            <a:endParaRPr lang="en-US" sz="1150" dirty="0"/>
          </a:p>
        </p:txBody>
      </p:sp>
      <p:sp>
        <p:nvSpPr>
          <p:cNvPr id="13" name="Text 10"/>
          <p:cNvSpPr/>
          <p:nvPr/>
        </p:nvSpPr>
        <p:spPr>
          <a:xfrm>
            <a:off x="6053328" y="233172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Stacked bar by country shows gold/silver/bronze split. USA leads at ~2K total. Visible drop-off after top 3 nations.</a:t>
            </a:r>
            <a:endParaRPr lang="en-US" sz="1000" dirty="0"/>
          </a:p>
        </p:txBody>
      </p:sp>
      <p:sp>
        <p:nvSpPr>
          <p:cNvPr id="14" name="Shape 11"/>
          <p:cNvSpPr/>
          <p:nvPr/>
        </p:nvSpPr>
        <p:spPr>
          <a:xfrm>
            <a:off x="5870448" y="292608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870448" y="2926080"/>
            <a:ext cx="64008" cy="868680"/>
          </a:xfrm>
          <a:prstGeom prst="rect">
            <a:avLst/>
          </a:prstGeom>
          <a:solidFill>
            <a:srgbClr val="D4AF37"/>
          </a:solidFill>
          <a:ln w="12700">
            <a:solidFill>
              <a:srgbClr val="D4AF37"/>
            </a:solidFill>
            <a:prstDash val="solid"/>
          </a:ln>
        </p:spPr>
      </p:sp>
      <p:sp>
        <p:nvSpPr>
          <p:cNvPr id="16" name="Text 13"/>
          <p:cNvSpPr/>
          <p:nvPr/>
        </p:nvSpPr>
        <p:spPr>
          <a:xfrm>
            <a:off x="6053328" y="299923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Country Medal Table</a:t>
            </a:r>
            <a:endParaRPr lang="en-US" sz="1150" dirty="0"/>
          </a:p>
        </p:txBody>
      </p:sp>
      <p:sp>
        <p:nvSpPr>
          <p:cNvPr id="17" name="Text 14"/>
          <p:cNvSpPr/>
          <p:nvPr/>
        </p:nvSpPr>
        <p:spPr>
          <a:xfrm>
            <a:off x="6053328" y="329184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Full sortable table: Algeria (4 medals, rank 10) to Canada (917 medals, rank 413). Reveals wide rank-to-medals correlation.</a:t>
            </a:r>
            <a:endParaRPr lang="en-US" sz="1000" dirty="0"/>
          </a:p>
        </p:txBody>
      </p:sp>
      <p:sp>
        <p:nvSpPr>
          <p:cNvPr id="18" name="Shape 15"/>
          <p:cNvSpPr/>
          <p:nvPr/>
        </p:nvSpPr>
        <p:spPr>
          <a:xfrm>
            <a:off x="5870448" y="388620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9" name="Shape 16"/>
          <p:cNvSpPr/>
          <p:nvPr/>
        </p:nvSpPr>
        <p:spPr>
          <a:xfrm>
            <a:off x="5870448" y="3886200"/>
            <a:ext cx="64008" cy="868680"/>
          </a:xfrm>
          <a:prstGeom prst="rect">
            <a:avLst/>
          </a:prstGeom>
          <a:solidFill>
            <a:srgbClr val="D4AF37"/>
          </a:solidFill>
          <a:ln w="12700">
            <a:solidFill>
              <a:srgbClr val="D4AF37"/>
            </a:solidFill>
            <a:prstDash val="solid"/>
          </a:ln>
        </p:spPr>
      </p:sp>
      <p:sp>
        <p:nvSpPr>
          <p:cNvPr id="20" name="Text 17"/>
          <p:cNvSpPr/>
          <p:nvPr/>
        </p:nvSpPr>
        <p:spPr>
          <a:xfrm>
            <a:off x="6053328" y="395935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Scatter: Rank vs Medals</a:t>
            </a:r>
            <a:endParaRPr lang="en-US" sz="1150" dirty="0"/>
          </a:p>
        </p:txBody>
      </p:sp>
      <p:sp>
        <p:nvSpPr>
          <p:cNvPr id="21" name="Text 18"/>
          <p:cNvSpPr/>
          <p:nvPr/>
        </p:nvSpPr>
        <p:spPr>
          <a:xfrm>
            <a:off x="6053328" y="425196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Country Performance scatter shows clustering of high-rank, low-medal nations — confirming the long tail of underperforming participants.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0820"/>
          </a:solidFill>
          <a:ln w="12700">
            <a:solidFill>
              <a:srgbClr val="130820"/>
            </a:solidFill>
            <a:prstDash val="solid"/>
          </a:ln>
        </p:spPr>
      </p:sp>
      <p:sp>
        <p:nvSpPr>
          <p:cNvPr id="3" name="Shape 1"/>
          <p:cNvSpPr/>
          <p:nvPr/>
        </p:nvSpPr>
        <p:spPr>
          <a:xfrm>
            <a:off x="0" y="0"/>
            <a:ext cx="118872" cy="960120"/>
          </a:xfrm>
          <a:prstGeom prst="rect">
            <a:avLst/>
          </a:prstGeom>
          <a:solidFill>
            <a:srgbClr val="E63946"/>
          </a:solidFill>
          <a:ln w="12700">
            <a:solidFill>
              <a:srgbClr val="E63946"/>
            </a:solidFill>
            <a:prstDash val="solid"/>
          </a:ln>
        </p:spPr>
      </p:sp>
      <p:sp>
        <p:nvSpPr>
          <p:cNvPr id="4" name="Text 2"/>
          <p:cNvSpPr/>
          <p:nvPr/>
        </p:nvSpPr>
        <p:spPr>
          <a:xfrm>
            <a:off x="292608" y="0"/>
            <a:ext cx="5486400" cy="548640"/>
          </a:xfrm>
          <a:prstGeom prst="rect">
            <a:avLst/>
          </a:prstGeom>
          <a:noFill/>
          <a:ln/>
        </p:spPr>
        <p:txBody>
          <a:bodyPr wrap="square" lIns="0" tIns="0" rIns="0" bIns="0" rtlCol="0" anchor="ctr"/>
          <a:lstStyle/>
          <a:p>
            <a:pPr indent="0" marL="0">
              <a:buNone/>
            </a:pPr>
            <a:r>
              <a:rPr lang="en-US" sz="2000" b="1" spc="300" kern="0" dirty="0">
                <a:solidFill>
                  <a:srgbClr val="E63946"/>
                </a:solidFill>
                <a:latin typeface="Calibri" pitchFamily="34" charset="0"/>
                <a:ea typeface="Calibri" pitchFamily="34" charset="-122"/>
                <a:cs typeface="Calibri" pitchFamily="34" charset="-120"/>
              </a:rPr>
              <a:t>⚠  ANALYTICAL INSIGHT</a:t>
            </a:r>
            <a:endParaRPr lang="en-US" sz="2000" dirty="0"/>
          </a:p>
        </p:txBody>
      </p:sp>
      <p:sp>
        <p:nvSpPr>
          <p:cNvPr id="5" name="Text 3"/>
          <p:cNvSpPr/>
          <p:nvPr/>
        </p:nvSpPr>
        <p:spPr>
          <a:xfrm>
            <a:off x="292608" y="530352"/>
            <a:ext cx="8595360"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Olympic Medals Are Dominated by a Small Number of Nations</a:t>
            </a:r>
            <a:endParaRPr lang="en-US" sz="1400" dirty="0"/>
          </a:p>
        </p:txBody>
      </p:sp>
      <p:sp>
        <p:nvSpPr>
          <p:cNvPr id="6" name="Shape 4"/>
          <p:cNvSpPr/>
          <p:nvPr/>
        </p:nvSpPr>
        <p:spPr>
          <a:xfrm>
            <a:off x="347472" y="1024128"/>
            <a:ext cx="2834640" cy="374904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347472" y="1188720"/>
            <a:ext cx="2834640" cy="777240"/>
          </a:xfrm>
          <a:prstGeom prst="rect">
            <a:avLst/>
          </a:prstGeom>
          <a:noFill/>
          <a:ln/>
        </p:spPr>
        <p:txBody>
          <a:bodyPr wrap="square" lIns="0" tIns="0" rIns="0" bIns="0" rtlCol="0" anchor="ctr"/>
          <a:lstStyle/>
          <a:p>
            <a:pPr algn="ctr" indent="0" marL="0">
              <a:buNone/>
            </a:pPr>
            <a:r>
              <a:rPr lang="en-US" sz="4600" b="1" dirty="0">
                <a:solidFill>
                  <a:srgbClr val="E63946"/>
                </a:solidFill>
                <a:latin typeface="Calibri" pitchFamily="34" charset="0"/>
                <a:ea typeface="Calibri" pitchFamily="34" charset="-122"/>
                <a:cs typeface="Calibri" pitchFamily="34" charset="-120"/>
              </a:rPr>
              <a:t>TOP 5</a:t>
            </a:r>
            <a:endParaRPr lang="en-US" sz="4600" dirty="0"/>
          </a:p>
        </p:txBody>
      </p:sp>
      <p:sp>
        <p:nvSpPr>
          <p:cNvPr id="8" name="Text 6"/>
          <p:cNvSpPr/>
          <p:nvPr/>
        </p:nvSpPr>
        <p:spPr>
          <a:xfrm>
            <a:off x="347472" y="1965960"/>
            <a:ext cx="28346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COUNTRIES</a:t>
            </a:r>
            <a:endParaRPr lang="en-US" sz="1600" dirty="0"/>
          </a:p>
        </p:txBody>
      </p:sp>
      <p:sp>
        <p:nvSpPr>
          <p:cNvPr id="9" name="Shape 7"/>
          <p:cNvSpPr/>
          <p:nvPr/>
        </p:nvSpPr>
        <p:spPr>
          <a:xfrm>
            <a:off x="548640" y="2395728"/>
            <a:ext cx="2432304" cy="36576"/>
          </a:xfrm>
          <a:prstGeom prst="rect">
            <a:avLst/>
          </a:prstGeom>
          <a:solidFill>
            <a:srgbClr val="E63946"/>
          </a:solidFill>
          <a:ln w="12700">
            <a:solidFill>
              <a:srgbClr val="E63946"/>
            </a:solidFill>
            <a:prstDash val="solid"/>
          </a:ln>
        </p:spPr>
      </p:sp>
      <p:sp>
        <p:nvSpPr>
          <p:cNvPr id="10" name="Text 8"/>
          <p:cNvSpPr/>
          <p:nvPr/>
        </p:nvSpPr>
        <p:spPr>
          <a:xfrm>
            <a:off x="347472" y="2514600"/>
            <a:ext cx="2834640" cy="566928"/>
          </a:xfrm>
          <a:prstGeom prst="rect">
            <a:avLst/>
          </a:prstGeom>
          <a:noFill/>
          <a:ln/>
        </p:spPr>
        <p:txBody>
          <a:bodyPr wrap="square" lIns="0" tIns="0" rIns="0" bIns="0" rtlCol="0" anchor="ctr"/>
          <a:lstStyle/>
          <a:p>
            <a:pPr algn="ctr" indent="0" marL="0">
              <a:buNone/>
            </a:pPr>
            <a:r>
              <a:rPr lang="en-US" sz="1300" b="1" dirty="0">
                <a:solidFill>
                  <a:srgbClr val="D4AF37"/>
                </a:solidFill>
                <a:latin typeface="Calibri" pitchFamily="34" charset="0"/>
                <a:ea typeface="Calibri" pitchFamily="34" charset="-122"/>
                <a:cs typeface="Calibri" pitchFamily="34" charset="-120"/>
              </a:rPr>
              <a:t>USA · Germany · UK</a:t>
            </a:r>
            <a:endParaRPr lang="en-US" sz="1300" dirty="0"/>
          </a:p>
          <a:p>
            <a:pPr algn="ctr" indent="0" marL="0">
              <a:buNone/>
            </a:pPr>
            <a:r>
              <a:rPr lang="en-US" sz="1300" b="1" dirty="0">
                <a:solidFill>
                  <a:srgbClr val="D4AF37"/>
                </a:solidFill>
                <a:latin typeface="Calibri" pitchFamily="34" charset="0"/>
                <a:ea typeface="Calibri" pitchFamily="34" charset="-122"/>
                <a:cs typeface="Calibri" pitchFamily="34" charset="-120"/>
              </a:rPr>
              <a:t>China · Canada</a:t>
            </a:r>
            <a:endParaRPr lang="en-US" sz="1300" dirty="0"/>
          </a:p>
        </p:txBody>
      </p:sp>
      <p:sp>
        <p:nvSpPr>
          <p:cNvPr id="11" name="Text 9"/>
          <p:cNvSpPr/>
          <p:nvPr/>
        </p:nvSpPr>
        <p:spPr>
          <a:xfrm>
            <a:off x="347472" y="3154680"/>
            <a:ext cx="2834640" cy="274320"/>
          </a:xfrm>
          <a:prstGeom prst="rect">
            <a:avLst/>
          </a:prstGeom>
          <a:noFill/>
          <a:ln/>
        </p:spPr>
        <p:txBody>
          <a:bodyPr wrap="square" lIns="0" tIns="0" rIns="0" bIns="0" rtlCol="0" anchor="ctr"/>
          <a:lstStyle/>
          <a:p>
            <a:pPr algn="ctr" indent="0" marL="0">
              <a:buNone/>
            </a:pPr>
            <a:r>
              <a:rPr lang="en-US" sz="1300" dirty="0">
                <a:solidFill>
                  <a:srgbClr val="B8C5D6"/>
                </a:solidFill>
                <a:latin typeface="Calibri" pitchFamily="34" charset="0"/>
                <a:ea typeface="Calibri" pitchFamily="34" charset="-122"/>
                <a:cs typeface="Calibri" pitchFamily="34" charset="-120"/>
              </a:rPr>
              <a:t>account for</a:t>
            </a:r>
            <a:endParaRPr lang="en-US" sz="1300" dirty="0"/>
          </a:p>
        </p:txBody>
      </p:sp>
      <p:sp>
        <p:nvSpPr>
          <p:cNvPr id="12" name="Text 10"/>
          <p:cNvSpPr/>
          <p:nvPr/>
        </p:nvSpPr>
        <p:spPr>
          <a:xfrm>
            <a:off x="347472" y="3429000"/>
            <a:ext cx="2834640" cy="548640"/>
          </a:xfrm>
          <a:prstGeom prst="rect">
            <a:avLst/>
          </a:prstGeom>
          <a:noFill/>
          <a:ln/>
        </p:spPr>
        <p:txBody>
          <a:bodyPr wrap="square" lIns="0" tIns="0" rIns="0" bIns="0" rtlCol="0" anchor="ctr"/>
          <a:lstStyle/>
          <a:p>
            <a:pPr algn="ctr" indent="0" marL="0">
              <a:buNone/>
            </a:pPr>
            <a:r>
              <a:rPr lang="en-US" sz="3600" b="1" dirty="0">
                <a:solidFill>
                  <a:srgbClr val="F0C84A"/>
                </a:solidFill>
                <a:latin typeface="Calibri" pitchFamily="34" charset="0"/>
                <a:ea typeface="Calibri" pitchFamily="34" charset="-122"/>
                <a:cs typeface="Calibri" pitchFamily="34" charset="-120"/>
              </a:rPr>
              <a:t>&gt;40%</a:t>
            </a:r>
            <a:endParaRPr lang="en-US" sz="3600" dirty="0"/>
          </a:p>
        </p:txBody>
      </p:sp>
      <p:sp>
        <p:nvSpPr>
          <p:cNvPr id="13" name="Text 11"/>
          <p:cNvSpPr/>
          <p:nvPr/>
        </p:nvSpPr>
        <p:spPr>
          <a:xfrm>
            <a:off x="347472" y="4005072"/>
            <a:ext cx="2834640" cy="274320"/>
          </a:xfrm>
          <a:prstGeom prst="rect">
            <a:avLst/>
          </a:prstGeom>
          <a:noFill/>
          <a:ln/>
        </p:spPr>
        <p:txBody>
          <a:bodyPr wrap="square" lIns="0" tIns="0" rIns="0" bIns="0" rtlCol="0" anchor="ctr"/>
          <a:lstStyle/>
          <a:p>
            <a:pPr algn="ctr" indent="0" marL="0">
              <a:buNone/>
            </a:pPr>
            <a:r>
              <a:rPr lang="en-US" sz="1200" i="1" dirty="0">
                <a:solidFill>
                  <a:srgbClr val="7A8FA8"/>
                </a:solidFill>
                <a:latin typeface="Calibri" pitchFamily="34" charset="0"/>
                <a:ea typeface="Calibri" pitchFamily="34" charset="-122"/>
                <a:cs typeface="Calibri" pitchFamily="34" charset="-120"/>
              </a:rPr>
              <a:t>of all 16K medals</a:t>
            </a:r>
            <a:endParaRPr lang="en-US" sz="1200" dirty="0"/>
          </a:p>
        </p:txBody>
      </p:sp>
      <p:sp>
        <p:nvSpPr>
          <p:cNvPr id="14" name="Shape 12"/>
          <p:cNvSpPr/>
          <p:nvPr/>
        </p:nvSpPr>
        <p:spPr>
          <a:xfrm>
            <a:off x="3364992" y="1024128"/>
            <a:ext cx="5431536" cy="114300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3364992" y="1024128"/>
            <a:ext cx="64008" cy="1143000"/>
          </a:xfrm>
          <a:prstGeom prst="rect">
            <a:avLst/>
          </a:prstGeom>
          <a:solidFill>
            <a:srgbClr val="E63946"/>
          </a:solidFill>
          <a:ln w="12700">
            <a:solidFill>
              <a:srgbClr val="E63946"/>
            </a:solidFill>
            <a:prstDash val="solid"/>
          </a:ln>
        </p:spPr>
      </p:sp>
      <p:sp>
        <p:nvSpPr>
          <p:cNvPr id="16" name="Text 14"/>
          <p:cNvSpPr/>
          <p:nvPr/>
        </p:nvSpPr>
        <p:spPr>
          <a:xfrm>
            <a:off x="3566160" y="1115568"/>
            <a:ext cx="51206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Structural Entrenchment</a:t>
            </a:r>
            <a:endParaRPr lang="en-US" sz="1300" dirty="0"/>
          </a:p>
        </p:txBody>
      </p:sp>
      <p:sp>
        <p:nvSpPr>
          <p:cNvPr id="17" name="Text 15"/>
          <p:cNvSpPr/>
          <p:nvPr/>
        </p:nvSpPr>
        <p:spPr>
          <a:xfrm>
            <a:off x="3566160" y="1444752"/>
            <a:ext cx="5120640" cy="62179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The USA has led the medal table in virtually every Summer Games since 1960. Germany (incl. East/West era) and the UK maintain permanent top-5 positions. This is not random variation — it reflects structural investment in elite sports systems.</a:t>
            </a:r>
            <a:endParaRPr lang="en-US" sz="1050" dirty="0"/>
          </a:p>
        </p:txBody>
      </p:sp>
      <p:sp>
        <p:nvSpPr>
          <p:cNvPr id="18" name="Shape 16"/>
          <p:cNvSpPr/>
          <p:nvPr/>
        </p:nvSpPr>
        <p:spPr>
          <a:xfrm>
            <a:off x="3364992" y="2286000"/>
            <a:ext cx="5431536" cy="114300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3364992" y="2286000"/>
            <a:ext cx="64008" cy="1143000"/>
          </a:xfrm>
          <a:prstGeom prst="rect">
            <a:avLst/>
          </a:prstGeom>
          <a:solidFill>
            <a:srgbClr val="E63946"/>
          </a:solidFill>
          <a:ln w="12700">
            <a:solidFill>
              <a:srgbClr val="E63946"/>
            </a:solidFill>
            <a:prstDash val="solid"/>
          </a:ln>
        </p:spPr>
      </p:sp>
      <p:sp>
        <p:nvSpPr>
          <p:cNvPr id="20" name="Text 18"/>
          <p:cNvSpPr/>
          <p:nvPr/>
        </p:nvSpPr>
        <p:spPr>
          <a:xfrm>
            <a:off x="3566160" y="2377440"/>
            <a:ext cx="51206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Long Tail Problem</a:t>
            </a:r>
            <a:endParaRPr lang="en-US" sz="1300" dirty="0"/>
          </a:p>
        </p:txBody>
      </p:sp>
      <p:sp>
        <p:nvSpPr>
          <p:cNvPr id="21" name="Text 19"/>
          <p:cNvSpPr/>
          <p:nvPr/>
        </p:nvSpPr>
        <p:spPr>
          <a:xfrm>
            <a:off x="3566160" y="2706624"/>
            <a:ext cx="5120640" cy="62179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The Country Medal Table shows dozens of nations with 0–10 total medals across their entire Olympic history. Nations like Algeria (4 medals), Bosnia &amp; Herzegovina (5), and Azerbaijan (12) show minimal returns despite decades of participation.</a:t>
            </a:r>
            <a:endParaRPr lang="en-US" sz="1050" dirty="0"/>
          </a:p>
        </p:txBody>
      </p:sp>
      <p:sp>
        <p:nvSpPr>
          <p:cNvPr id="22" name="Shape 20"/>
          <p:cNvSpPr/>
          <p:nvPr/>
        </p:nvSpPr>
        <p:spPr>
          <a:xfrm>
            <a:off x="3364992" y="3547872"/>
            <a:ext cx="5431536" cy="114300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364992" y="3547872"/>
            <a:ext cx="64008" cy="1143000"/>
          </a:xfrm>
          <a:prstGeom prst="rect">
            <a:avLst/>
          </a:prstGeom>
          <a:solidFill>
            <a:srgbClr val="E63946"/>
          </a:solidFill>
          <a:ln w="12700">
            <a:solidFill>
              <a:srgbClr val="E63946"/>
            </a:solidFill>
            <a:prstDash val="solid"/>
          </a:ln>
        </p:spPr>
      </p:sp>
      <p:sp>
        <p:nvSpPr>
          <p:cNvPr id="24" name="Text 22"/>
          <p:cNvSpPr/>
          <p:nvPr/>
        </p:nvSpPr>
        <p:spPr>
          <a:xfrm>
            <a:off x="3566160" y="3639312"/>
            <a:ext cx="51206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Compounding Advantage</a:t>
            </a:r>
            <a:endParaRPr lang="en-US" sz="1300" dirty="0"/>
          </a:p>
        </p:txBody>
      </p:sp>
      <p:sp>
        <p:nvSpPr>
          <p:cNvPr id="25" name="Text 23"/>
          <p:cNvSpPr/>
          <p:nvPr/>
        </p:nvSpPr>
        <p:spPr>
          <a:xfrm>
            <a:off x="3566160" y="3968496"/>
            <a:ext cx="5120640" cy="62179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Nations that win medals attract more sponsorship and government funding — creating a self-reinforcing cycle. Top nations can fund sports academies, sports science, and anti-doping programmes that perpetuate their advantage.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2DC653"/>
          </a:solidFill>
          <a:ln w="12700">
            <a:solidFill>
              <a:srgbClr val="2DC653"/>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2DC653"/>
                </a:solidFill>
                <a:latin typeface="Calibri" pitchFamily="34" charset="0"/>
                <a:ea typeface="Calibri" pitchFamily="34" charset="-122"/>
                <a:cs typeface="Calibri" pitchFamily="34" charset="-120"/>
              </a:rPr>
              <a:t>DASHBOARD  PAGE 4  —  Sports Performance Analysis</a:t>
            </a:r>
            <a:endParaRPr lang="en-US" sz="2700" dirty="0"/>
          </a:p>
        </p:txBody>
      </p:sp>
      <p:pic>
        <p:nvPicPr>
          <p:cNvPr id="5" name="Image 0" descr="/mnt/user-data/uploads/Screenshot_2026-03-16_012837.png">    </p:cNvPr>
          <p:cNvPicPr>
            <a:picLocks noChangeAspect="1"/>
          </p:cNvPicPr>
          <p:nvPr/>
        </p:nvPicPr>
        <p:blipFill>
          <a:blip r:embed="rId1"/>
          <a:stretch>
            <a:fillRect/>
          </a:stretch>
        </p:blipFill>
        <p:spPr>
          <a:xfrm>
            <a:off x="347472" y="1005840"/>
            <a:ext cx="5349240" cy="3794760"/>
          </a:xfrm>
          <a:prstGeom prst="rect">
            <a:avLst/>
          </a:prstGeom>
          <a:effectLst>
            <a:outerShdw sx="100000" sy="100000" kx="0" ky="0" algn="bl" rotWithShape="0" blurRad="101600" dist="38100" dir="8100000">
              <a:srgbClr val="000000">
                <a:alpha val="18000"/>
              </a:srgbClr>
            </a:outerShdw>
          </a:effectLst>
        </p:spPr>
      </p:pic>
      <p:sp>
        <p:nvSpPr>
          <p:cNvPr id="6" name="Shape 3"/>
          <p:cNvSpPr/>
          <p:nvPr/>
        </p:nvSpPr>
        <p:spPr>
          <a:xfrm>
            <a:off x="5870448" y="1005840"/>
            <a:ext cx="2926080" cy="86868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5870448" y="1005840"/>
            <a:ext cx="64008" cy="868680"/>
          </a:xfrm>
          <a:prstGeom prst="rect">
            <a:avLst/>
          </a:prstGeom>
          <a:solidFill>
            <a:srgbClr val="2DC653"/>
          </a:solidFill>
          <a:ln w="12700">
            <a:solidFill>
              <a:srgbClr val="2DC653"/>
            </a:solidFill>
            <a:prstDash val="solid"/>
          </a:ln>
        </p:spPr>
      </p:sp>
      <p:sp>
        <p:nvSpPr>
          <p:cNvPr id="8" name="Text 5"/>
          <p:cNvSpPr/>
          <p:nvPr/>
        </p:nvSpPr>
        <p:spPr>
          <a:xfrm>
            <a:off x="6053328" y="107899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35 Total Sports Tracked</a:t>
            </a:r>
            <a:endParaRPr lang="en-US" sz="1150" dirty="0"/>
          </a:p>
        </p:txBody>
      </p:sp>
      <p:sp>
        <p:nvSpPr>
          <p:cNvPr id="9" name="Text 6"/>
          <p:cNvSpPr/>
          <p:nvPr/>
        </p:nvSpPr>
        <p:spPr>
          <a:xfrm>
            <a:off x="6053328" y="137160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Across all Games and disciplines. Summer sports (Athletics, Swimming, Cycling) generate substantially more medals than Winter disciplines.</a:t>
            </a:r>
            <a:endParaRPr lang="en-US" sz="1000" dirty="0"/>
          </a:p>
        </p:txBody>
      </p:sp>
      <p:sp>
        <p:nvSpPr>
          <p:cNvPr id="10" name="Shape 7"/>
          <p:cNvSpPr/>
          <p:nvPr/>
        </p:nvSpPr>
        <p:spPr>
          <a:xfrm>
            <a:off x="5870448" y="1965960"/>
            <a:ext cx="2926080" cy="86868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5870448" y="1965960"/>
            <a:ext cx="64008" cy="868680"/>
          </a:xfrm>
          <a:prstGeom prst="rect">
            <a:avLst/>
          </a:prstGeom>
          <a:solidFill>
            <a:srgbClr val="2DC653"/>
          </a:solidFill>
          <a:ln w="12700">
            <a:solidFill>
              <a:srgbClr val="2DC653"/>
            </a:solidFill>
            <a:prstDash val="solid"/>
          </a:ln>
        </p:spPr>
      </p:sp>
      <p:sp>
        <p:nvSpPr>
          <p:cNvPr id="12" name="Text 9"/>
          <p:cNvSpPr/>
          <p:nvPr/>
        </p:nvSpPr>
        <p:spPr>
          <a:xfrm>
            <a:off x="6053328" y="203911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Top 10 Sports by Medals</a:t>
            </a:r>
            <a:endParaRPr lang="en-US" sz="1150" dirty="0"/>
          </a:p>
        </p:txBody>
      </p:sp>
      <p:sp>
        <p:nvSpPr>
          <p:cNvPr id="13" name="Text 10"/>
          <p:cNvSpPr/>
          <p:nvPr/>
        </p:nvSpPr>
        <p:spPr>
          <a:xfrm>
            <a:off x="6053328" y="233172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Athletics (~4K) and Swimming (~4K) dwarf all other disciplines. Alpine Skiing and Cross-Country follow at ~1K — clear medal concentration in two sports.</a:t>
            </a:r>
            <a:endParaRPr lang="en-US" sz="1000" dirty="0"/>
          </a:p>
        </p:txBody>
      </p:sp>
      <p:sp>
        <p:nvSpPr>
          <p:cNvPr id="14" name="Shape 11"/>
          <p:cNvSpPr/>
          <p:nvPr/>
        </p:nvSpPr>
        <p:spPr>
          <a:xfrm>
            <a:off x="5870448" y="2926080"/>
            <a:ext cx="2926080" cy="86868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870448" y="2926080"/>
            <a:ext cx="64008" cy="868680"/>
          </a:xfrm>
          <a:prstGeom prst="rect">
            <a:avLst/>
          </a:prstGeom>
          <a:solidFill>
            <a:srgbClr val="2DC653"/>
          </a:solidFill>
          <a:ln w="12700">
            <a:solidFill>
              <a:srgbClr val="2DC653"/>
            </a:solidFill>
            <a:prstDash val="solid"/>
          </a:ln>
        </p:spPr>
      </p:sp>
      <p:sp>
        <p:nvSpPr>
          <p:cNvPr id="16" name="Text 13"/>
          <p:cNvSpPr/>
          <p:nvPr/>
        </p:nvSpPr>
        <p:spPr>
          <a:xfrm>
            <a:off x="6053328" y="299923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Bottom 10 Sports</a:t>
            </a:r>
            <a:endParaRPr lang="en-US" sz="1150" dirty="0"/>
          </a:p>
        </p:txBody>
      </p:sp>
      <p:sp>
        <p:nvSpPr>
          <p:cNvPr id="17" name="Text 14"/>
          <p:cNvSpPr/>
          <p:nvPr/>
        </p:nvSpPr>
        <p:spPr>
          <a:xfrm>
            <a:off x="6053328" y="329184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Snooker, Football 7-a-side, Para Ice Hockey, Canoe and Triathlon each produce &lt;30 medals — revealing severely underrepresented disciplines.</a:t>
            </a:r>
            <a:endParaRPr lang="en-US" sz="1000" dirty="0"/>
          </a:p>
        </p:txBody>
      </p:sp>
      <p:sp>
        <p:nvSpPr>
          <p:cNvPr id="18" name="Shape 15"/>
          <p:cNvSpPr/>
          <p:nvPr/>
        </p:nvSpPr>
        <p:spPr>
          <a:xfrm>
            <a:off x="5870448" y="3886200"/>
            <a:ext cx="2926080" cy="86868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19" name="Shape 16"/>
          <p:cNvSpPr/>
          <p:nvPr/>
        </p:nvSpPr>
        <p:spPr>
          <a:xfrm>
            <a:off x="5870448" y="3886200"/>
            <a:ext cx="64008" cy="868680"/>
          </a:xfrm>
          <a:prstGeom prst="rect">
            <a:avLst/>
          </a:prstGeom>
          <a:solidFill>
            <a:srgbClr val="2DC653"/>
          </a:solidFill>
          <a:ln w="12700">
            <a:solidFill>
              <a:srgbClr val="2DC653"/>
            </a:solidFill>
            <a:prstDash val="solid"/>
          </a:ln>
        </p:spPr>
      </p:sp>
      <p:sp>
        <p:nvSpPr>
          <p:cNvPr id="20" name="Text 17"/>
          <p:cNvSpPr/>
          <p:nvPr/>
        </p:nvSpPr>
        <p:spPr>
          <a:xfrm>
            <a:off x="6053328" y="395935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Medal Distribution by Country</a:t>
            </a:r>
            <a:endParaRPr lang="en-US" sz="1150" dirty="0"/>
          </a:p>
        </p:txBody>
      </p:sp>
      <p:sp>
        <p:nvSpPr>
          <p:cNvPr id="21" name="Text 18"/>
          <p:cNvSpPr/>
          <p:nvPr/>
        </p:nvSpPr>
        <p:spPr>
          <a:xfrm>
            <a:off x="6053328" y="425196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USA and Germany lead in medal distribution per country. The stacked bars confirm gold/silver/bronze proportions are consistent among top performers.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80A14"/>
          </a:solidFill>
          <a:ln w="12700">
            <a:solidFill>
              <a:srgbClr val="080A14"/>
            </a:solidFill>
            <a:prstDash val="solid"/>
          </a:ln>
        </p:spPr>
      </p:sp>
      <p:sp>
        <p:nvSpPr>
          <p:cNvPr id="3" name="Shape 1"/>
          <p:cNvSpPr/>
          <p:nvPr/>
        </p:nvSpPr>
        <p:spPr>
          <a:xfrm>
            <a:off x="0" y="0"/>
            <a:ext cx="118872" cy="960120"/>
          </a:xfrm>
          <a:prstGeom prst="rect">
            <a:avLst/>
          </a:prstGeom>
          <a:solidFill>
            <a:srgbClr val="E63946"/>
          </a:solidFill>
          <a:ln w="12700">
            <a:solidFill>
              <a:srgbClr val="E63946"/>
            </a:solidFill>
            <a:prstDash val="solid"/>
          </a:ln>
        </p:spPr>
      </p:sp>
      <p:sp>
        <p:nvSpPr>
          <p:cNvPr id="4" name="Text 2"/>
          <p:cNvSpPr/>
          <p:nvPr/>
        </p:nvSpPr>
        <p:spPr>
          <a:xfrm>
            <a:off x="292608" y="0"/>
            <a:ext cx="5486400" cy="548640"/>
          </a:xfrm>
          <a:prstGeom prst="rect">
            <a:avLst/>
          </a:prstGeom>
          <a:noFill/>
          <a:ln/>
        </p:spPr>
        <p:txBody>
          <a:bodyPr wrap="square" lIns="0" tIns="0" rIns="0" bIns="0" rtlCol="0" anchor="ctr"/>
          <a:lstStyle/>
          <a:p>
            <a:pPr indent="0" marL="0">
              <a:buNone/>
            </a:pPr>
            <a:r>
              <a:rPr lang="en-US" sz="2000" b="1" spc="300" kern="0" dirty="0">
                <a:solidFill>
                  <a:srgbClr val="E63946"/>
                </a:solidFill>
                <a:latin typeface="Calibri" pitchFamily="34" charset="0"/>
                <a:ea typeface="Calibri" pitchFamily="34" charset="-122"/>
                <a:cs typeface="Calibri" pitchFamily="34" charset="-120"/>
              </a:rPr>
              <a:t>⚠  ANALYTICAL INSIGHT</a:t>
            </a:r>
            <a:endParaRPr lang="en-US" sz="2000" dirty="0"/>
          </a:p>
        </p:txBody>
      </p:sp>
      <p:sp>
        <p:nvSpPr>
          <p:cNvPr id="5" name="Text 3"/>
          <p:cNvSpPr/>
          <p:nvPr/>
        </p:nvSpPr>
        <p:spPr>
          <a:xfrm>
            <a:off x="292608" y="530352"/>
            <a:ext cx="8595360"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Medal Distribution is Heavily Skewed Toward a Few Dominant Sports</a:t>
            </a:r>
            <a:endParaRPr lang="en-US" sz="1400" dirty="0"/>
          </a:p>
        </p:txBody>
      </p:sp>
      <p:sp>
        <p:nvSpPr>
          <p:cNvPr id="6" name="Shape 4"/>
          <p:cNvSpPr/>
          <p:nvPr/>
        </p:nvSpPr>
        <p:spPr>
          <a:xfrm>
            <a:off x="347472" y="1024128"/>
            <a:ext cx="4069080" cy="169164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502920" y="1115568"/>
            <a:ext cx="3767328" cy="347472"/>
          </a:xfrm>
          <a:prstGeom prst="rect">
            <a:avLst/>
          </a:prstGeom>
          <a:noFill/>
          <a:ln/>
        </p:spPr>
        <p:txBody>
          <a:bodyPr wrap="square" lIns="0" tIns="0" rIns="0" bIns="0" rtlCol="0" anchor="ctr"/>
          <a:lstStyle/>
          <a:p>
            <a:pPr algn="ctr" indent="0" marL="0">
              <a:buNone/>
            </a:pPr>
            <a:r>
              <a:rPr lang="en-US" sz="1600" b="1" dirty="0">
                <a:solidFill>
                  <a:srgbClr val="D4AF37"/>
                </a:solidFill>
                <a:latin typeface="Calibri" pitchFamily="34" charset="0"/>
                <a:ea typeface="Calibri" pitchFamily="34" charset="-122"/>
                <a:cs typeface="Calibri" pitchFamily="34" charset="-120"/>
              </a:rPr>
              <a:t>Athletics + Swimming</a:t>
            </a:r>
            <a:endParaRPr lang="en-US" sz="1600" dirty="0"/>
          </a:p>
        </p:txBody>
      </p:sp>
      <p:sp>
        <p:nvSpPr>
          <p:cNvPr id="8" name="Text 6"/>
          <p:cNvSpPr/>
          <p:nvPr/>
        </p:nvSpPr>
        <p:spPr>
          <a:xfrm>
            <a:off x="502920" y="1463040"/>
            <a:ext cx="3767328"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~8,000 medals combined</a:t>
            </a:r>
            <a:endParaRPr lang="en-US" sz="2000" dirty="0"/>
          </a:p>
        </p:txBody>
      </p:sp>
      <p:sp>
        <p:nvSpPr>
          <p:cNvPr id="9" name="Text 7"/>
          <p:cNvSpPr/>
          <p:nvPr/>
        </p:nvSpPr>
        <p:spPr>
          <a:xfrm>
            <a:off x="502920" y="1828800"/>
            <a:ext cx="3767328" cy="731520"/>
          </a:xfrm>
          <a:prstGeom prst="rect">
            <a:avLst/>
          </a:prstGeom>
          <a:noFill/>
          <a:ln/>
        </p:spPr>
        <p:txBody>
          <a:bodyPr wrap="square" lIns="0" tIns="0" rIns="0" bIns="0" rtlCol="0" anchor="ctr"/>
          <a:lstStyle/>
          <a:p>
            <a:pPr algn="ctr" indent="0" marL="0">
              <a:buNone/>
            </a:pPr>
            <a:r>
              <a:rPr lang="en-US" sz="1100" i="1" dirty="0">
                <a:solidFill>
                  <a:srgbClr val="B8C5D6"/>
                </a:solidFill>
                <a:latin typeface="Calibri" pitchFamily="34" charset="0"/>
                <a:ea typeface="Calibri" pitchFamily="34" charset="-122"/>
                <a:cs typeface="Calibri" pitchFamily="34" charset="-120"/>
              </a:rPr>
              <a:t>from just 2 of 35 sports (~23% of all medals in 2 disciplines)</a:t>
            </a:r>
            <a:endParaRPr lang="en-US" sz="1100" dirty="0"/>
          </a:p>
        </p:txBody>
      </p:sp>
      <p:sp>
        <p:nvSpPr>
          <p:cNvPr id="10" name="Shape 8"/>
          <p:cNvSpPr/>
          <p:nvPr/>
        </p:nvSpPr>
        <p:spPr>
          <a:xfrm>
            <a:off x="4736592" y="1024128"/>
            <a:ext cx="4069080" cy="169164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4892040" y="1115568"/>
            <a:ext cx="3767328" cy="347472"/>
          </a:xfrm>
          <a:prstGeom prst="rect">
            <a:avLst/>
          </a:prstGeom>
          <a:noFill/>
          <a:ln/>
        </p:spPr>
        <p:txBody>
          <a:bodyPr wrap="square" lIns="0" tIns="0" rIns="0" bIns="0" rtlCol="0" anchor="ctr"/>
          <a:lstStyle/>
          <a:p>
            <a:pPr algn="ctr" indent="0" marL="0">
              <a:buNone/>
            </a:pPr>
            <a:r>
              <a:rPr lang="en-US" sz="1600" b="1" dirty="0">
                <a:solidFill>
                  <a:srgbClr val="D4AF37"/>
                </a:solidFill>
                <a:latin typeface="Calibri" pitchFamily="34" charset="0"/>
                <a:ea typeface="Calibri" pitchFamily="34" charset="-122"/>
                <a:cs typeface="Calibri" pitchFamily="34" charset="-120"/>
              </a:rPr>
              <a:t>Bottom 10 Sports</a:t>
            </a:r>
            <a:endParaRPr lang="en-US" sz="1600" dirty="0"/>
          </a:p>
        </p:txBody>
      </p:sp>
      <p:sp>
        <p:nvSpPr>
          <p:cNvPr id="12" name="Text 10"/>
          <p:cNvSpPr/>
          <p:nvPr/>
        </p:nvSpPr>
        <p:spPr>
          <a:xfrm>
            <a:off x="4892040" y="1463040"/>
            <a:ext cx="3767328"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&lt;30 medals each</a:t>
            </a:r>
            <a:endParaRPr lang="en-US" sz="2000" dirty="0"/>
          </a:p>
        </p:txBody>
      </p:sp>
      <p:sp>
        <p:nvSpPr>
          <p:cNvPr id="13" name="Text 11"/>
          <p:cNvSpPr/>
          <p:nvPr/>
        </p:nvSpPr>
        <p:spPr>
          <a:xfrm>
            <a:off x="4892040" y="1828800"/>
            <a:ext cx="3767328" cy="731520"/>
          </a:xfrm>
          <a:prstGeom prst="rect">
            <a:avLst/>
          </a:prstGeom>
          <a:noFill/>
          <a:ln/>
        </p:spPr>
        <p:txBody>
          <a:bodyPr wrap="square" lIns="0" tIns="0" rIns="0" bIns="0" rtlCol="0" anchor="ctr"/>
          <a:lstStyle/>
          <a:p>
            <a:pPr algn="ctr" indent="0" marL="0">
              <a:buNone/>
            </a:pPr>
            <a:r>
              <a:rPr lang="en-US" sz="1100" i="1" dirty="0">
                <a:solidFill>
                  <a:srgbClr val="B8C5D6"/>
                </a:solidFill>
                <a:latin typeface="Calibri" pitchFamily="34" charset="0"/>
                <a:ea typeface="Calibri" pitchFamily="34" charset="-122"/>
                <a:cs typeface="Calibri" pitchFamily="34" charset="-120"/>
              </a:rPr>
              <a:t>Snooker, Canoe, Triathlon, Football 7-a-side each award fewer than 30 medals total across all editions</a:t>
            </a:r>
            <a:endParaRPr lang="en-US" sz="1100" dirty="0"/>
          </a:p>
        </p:txBody>
      </p:sp>
      <p:sp>
        <p:nvSpPr>
          <p:cNvPr id="14" name="Shape 12"/>
          <p:cNvSpPr/>
          <p:nvPr/>
        </p:nvSpPr>
        <p:spPr>
          <a:xfrm>
            <a:off x="347472" y="2880360"/>
            <a:ext cx="8458200" cy="65836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347472" y="2880360"/>
            <a:ext cx="64008" cy="658368"/>
          </a:xfrm>
          <a:prstGeom prst="rect">
            <a:avLst/>
          </a:prstGeom>
          <a:solidFill>
            <a:srgbClr val="2DC653"/>
          </a:solidFill>
          <a:ln w="12700">
            <a:solidFill>
              <a:srgbClr val="2DC653"/>
            </a:solidFill>
            <a:prstDash val="solid"/>
          </a:ln>
        </p:spPr>
      </p:sp>
      <p:sp>
        <p:nvSpPr>
          <p:cNvPr id="16" name="Text 14"/>
          <p:cNvSpPr/>
          <p:nvPr/>
        </p:nvSpPr>
        <p:spPr>
          <a:xfrm>
            <a:off x="548640" y="2944368"/>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Event Multiplicity Bias</a:t>
            </a:r>
            <a:endParaRPr lang="en-US" sz="1200" dirty="0"/>
          </a:p>
        </p:txBody>
      </p:sp>
      <p:sp>
        <p:nvSpPr>
          <p:cNvPr id="17" name="Text 15"/>
          <p:cNvSpPr/>
          <p:nvPr/>
        </p:nvSpPr>
        <p:spPr>
          <a:xfrm>
            <a:off x="3017520" y="2944368"/>
            <a:ext cx="5650992" cy="53035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Athletics contains 48+ sub-events (100m, 200m, relay, hurdles…). A nation with elite sprinters can earn 15+ medals. A nation strong in Judo earns 7 at most. The structure inherently rewards generalism.</a:t>
            </a:r>
            <a:endParaRPr lang="en-US" sz="1050" dirty="0"/>
          </a:p>
        </p:txBody>
      </p:sp>
      <p:sp>
        <p:nvSpPr>
          <p:cNvPr id="18" name="Shape 16"/>
          <p:cNvSpPr/>
          <p:nvPr/>
        </p:nvSpPr>
        <p:spPr>
          <a:xfrm>
            <a:off x="347472" y="3630168"/>
            <a:ext cx="8458200" cy="65836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347472" y="3630168"/>
            <a:ext cx="64008" cy="658368"/>
          </a:xfrm>
          <a:prstGeom prst="rect">
            <a:avLst/>
          </a:prstGeom>
          <a:solidFill>
            <a:srgbClr val="2DC653"/>
          </a:solidFill>
          <a:ln w="12700">
            <a:solidFill>
              <a:srgbClr val="2DC653"/>
            </a:solidFill>
            <a:prstDash val="solid"/>
          </a:ln>
        </p:spPr>
      </p:sp>
      <p:sp>
        <p:nvSpPr>
          <p:cNvPr id="20" name="Text 18"/>
          <p:cNvSpPr/>
          <p:nvPr/>
        </p:nvSpPr>
        <p:spPr>
          <a:xfrm>
            <a:off x="548640" y="3694176"/>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Summer vs Winter Asymmetry</a:t>
            </a:r>
            <a:endParaRPr lang="en-US" sz="1200" dirty="0"/>
          </a:p>
        </p:txBody>
      </p:sp>
      <p:sp>
        <p:nvSpPr>
          <p:cNvPr id="21" name="Text 19"/>
          <p:cNvSpPr/>
          <p:nvPr/>
        </p:nvSpPr>
        <p:spPr>
          <a:xfrm>
            <a:off x="3017520" y="3694176"/>
            <a:ext cx="5650992" cy="53035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Summer Games generate 4–5× more medals per edition. Nations without winter climates or ice infrastructure are structurally excluded from a large portion of the Games programme.</a:t>
            </a:r>
            <a:endParaRPr lang="en-US" sz="1050" dirty="0"/>
          </a:p>
        </p:txBody>
      </p:sp>
      <p:sp>
        <p:nvSpPr>
          <p:cNvPr id="22" name="Shape 20"/>
          <p:cNvSpPr/>
          <p:nvPr/>
        </p:nvSpPr>
        <p:spPr>
          <a:xfrm>
            <a:off x="347472" y="4379976"/>
            <a:ext cx="8458200" cy="658368"/>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47472" y="4379976"/>
            <a:ext cx="64008" cy="658368"/>
          </a:xfrm>
          <a:prstGeom prst="rect">
            <a:avLst/>
          </a:prstGeom>
          <a:solidFill>
            <a:srgbClr val="2DC653"/>
          </a:solidFill>
          <a:ln w="12700">
            <a:solidFill>
              <a:srgbClr val="2DC653"/>
            </a:solidFill>
            <a:prstDash val="solid"/>
          </a:ln>
        </p:spPr>
      </p:sp>
      <p:sp>
        <p:nvSpPr>
          <p:cNvPr id="24" name="Text 22"/>
          <p:cNvSpPr/>
          <p:nvPr/>
        </p:nvSpPr>
        <p:spPr>
          <a:xfrm>
            <a:off x="548640" y="4443984"/>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Sponsor &amp; Broadcast Feedback Loop</a:t>
            </a:r>
            <a:endParaRPr lang="en-US" sz="1200" dirty="0"/>
          </a:p>
        </p:txBody>
      </p:sp>
      <p:sp>
        <p:nvSpPr>
          <p:cNvPr id="25" name="Text 23"/>
          <p:cNvSpPr/>
          <p:nvPr/>
        </p:nvSpPr>
        <p:spPr>
          <a:xfrm>
            <a:off x="3017520" y="4443984"/>
            <a:ext cx="5650992" cy="530352"/>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High-medal sports attract more TV time and sponsorship, which funds more athletes and infrastructure — widening the gap between dominant and emerging sports disciplines.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1E90FF"/>
          </a:solidFill>
          <a:ln w="12700">
            <a:solidFill>
              <a:srgbClr val="1E90FF"/>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1E90FF"/>
                </a:solidFill>
                <a:latin typeface="Calibri" pitchFamily="34" charset="0"/>
                <a:ea typeface="Calibri" pitchFamily="34" charset="-122"/>
                <a:cs typeface="Calibri" pitchFamily="34" charset="-120"/>
              </a:rPr>
              <a:t>DASHBOARD  PAGE 5  —  Location Analysis</a:t>
            </a:r>
            <a:endParaRPr lang="en-US" sz="2700" dirty="0"/>
          </a:p>
        </p:txBody>
      </p:sp>
      <p:pic>
        <p:nvPicPr>
          <p:cNvPr id="5" name="Image 0" descr="/mnt/user-data/uploads/Screenshot_2026-03-16_012903.png">    </p:cNvPr>
          <p:cNvPicPr>
            <a:picLocks noChangeAspect="1"/>
          </p:cNvPicPr>
          <p:nvPr/>
        </p:nvPicPr>
        <p:blipFill>
          <a:blip r:embed="rId1"/>
          <a:stretch>
            <a:fillRect/>
          </a:stretch>
        </p:blipFill>
        <p:spPr>
          <a:xfrm>
            <a:off x="347472" y="1005840"/>
            <a:ext cx="5349240" cy="3794760"/>
          </a:xfrm>
          <a:prstGeom prst="rect">
            <a:avLst/>
          </a:prstGeom>
          <a:effectLst>
            <a:outerShdw sx="100000" sy="100000" kx="0" ky="0" algn="bl" rotWithShape="0" blurRad="101600" dist="38100" dir="8100000">
              <a:srgbClr val="000000">
                <a:alpha val="18000"/>
              </a:srgbClr>
            </a:outerShdw>
          </a:effectLst>
        </p:spPr>
      </p:pic>
      <p:sp>
        <p:nvSpPr>
          <p:cNvPr id="6" name="Shape 3"/>
          <p:cNvSpPr/>
          <p:nvPr/>
        </p:nvSpPr>
        <p:spPr>
          <a:xfrm>
            <a:off x="5870448" y="100584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5870448" y="1005840"/>
            <a:ext cx="64008" cy="868680"/>
          </a:xfrm>
          <a:prstGeom prst="rect">
            <a:avLst/>
          </a:prstGeom>
          <a:solidFill>
            <a:srgbClr val="1E90FF"/>
          </a:solidFill>
          <a:ln w="12700">
            <a:solidFill>
              <a:srgbClr val="1E90FF"/>
            </a:solidFill>
            <a:prstDash val="solid"/>
          </a:ln>
        </p:spPr>
      </p:sp>
      <p:sp>
        <p:nvSpPr>
          <p:cNvPr id="8" name="Text 5"/>
          <p:cNvSpPr/>
          <p:nvPr/>
        </p:nvSpPr>
        <p:spPr>
          <a:xfrm>
            <a:off x="6053328" y="107899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26 Games · 25 Cities</a:t>
            </a:r>
            <a:endParaRPr lang="en-US" sz="1150" dirty="0"/>
          </a:p>
        </p:txBody>
      </p:sp>
      <p:sp>
        <p:nvSpPr>
          <p:cNvPr id="9" name="Text 6"/>
          <p:cNvSpPr/>
          <p:nvPr/>
        </p:nvSpPr>
        <p:spPr>
          <a:xfrm>
            <a:off x="6053328" y="137160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The dataset covers 26 editions across 25 unique host cities, with London being the only city to have hosted more than once in this period.</a:t>
            </a:r>
            <a:endParaRPr lang="en-US" sz="1000" dirty="0"/>
          </a:p>
        </p:txBody>
      </p:sp>
      <p:sp>
        <p:nvSpPr>
          <p:cNvPr id="10" name="Shape 7"/>
          <p:cNvSpPr/>
          <p:nvPr/>
        </p:nvSpPr>
        <p:spPr>
          <a:xfrm>
            <a:off x="5870448" y="196596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5870448" y="1965960"/>
            <a:ext cx="64008" cy="868680"/>
          </a:xfrm>
          <a:prstGeom prst="rect">
            <a:avLst/>
          </a:prstGeom>
          <a:solidFill>
            <a:srgbClr val="1E90FF"/>
          </a:solidFill>
          <a:ln w="12700">
            <a:solidFill>
              <a:srgbClr val="1E90FF"/>
            </a:solidFill>
            <a:prstDash val="solid"/>
          </a:ln>
        </p:spPr>
      </p:sp>
      <p:sp>
        <p:nvSpPr>
          <p:cNvPr id="12" name="Text 9"/>
          <p:cNvSpPr/>
          <p:nvPr/>
        </p:nvSpPr>
        <p:spPr>
          <a:xfrm>
            <a:off x="6053328" y="203911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World Map — Medal Distribution</a:t>
            </a:r>
            <a:endParaRPr lang="en-US" sz="1150" dirty="0"/>
          </a:p>
        </p:txBody>
      </p:sp>
      <p:sp>
        <p:nvSpPr>
          <p:cNvPr id="13" name="Text 10"/>
          <p:cNvSpPr/>
          <p:nvPr/>
        </p:nvSpPr>
        <p:spPr>
          <a:xfrm>
            <a:off x="6053328" y="233172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Chloropleth map shades continents by medal volume. Europe and North America show the darkest shading. Africa and South America are visibly pale.</a:t>
            </a:r>
            <a:endParaRPr lang="en-US" sz="1000" dirty="0"/>
          </a:p>
        </p:txBody>
      </p:sp>
      <p:sp>
        <p:nvSpPr>
          <p:cNvPr id="14" name="Shape 11"/>
          <p:cNvSpPr/>
          <p:nvPr/>
        </p:nvSpPr>
        <p:spPr>
          <a:xfrm>
            <a:off x="5870448" y="292608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870448" y="2926080"/>
            <a:ext cx="64008" cy="868680"/>
          </a:xfrm>
          <a:prstGeom prst="rect">
            <a:avLst/>
          </a:prstGeom>
          <a:solidFill>
            <a:srgbClr val="1E90FF"/>
          </a:solidFill>
          <a:ln w="12700">
            <a:solidFill>
              <a:srgbClr val="1E90FF"/>
            </a:solidFill>
            <a:prstDash val="solid"/>
          </a:ln>
        </p:spPr>
      </p:sp>
      <p:sp>
        <p:nvSpPr>
          <p:cNvPr id="16" name="Text 13"/>
          <p:cNvSpPr/>
          <p:nvPr/>
        </p:nvSpPr>
        <p:spPr>
          <a:xfrm>
            <a:off x="6053328" y="299923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Games Timeline</a:t>
            </a:r>
            <a:endParaRPr lang="en-US" sz="1150" dirty="0"/>
          </a:p>
        </p:txBody>
      </p:sp>
      <p:sp>
        <p:nvSpPr>
          <p:cNvPr id="17" name="Text 14"/>
          <p:cNvSpPr/>
          <p:nvPr/>
        </p:nvSpPr>
        <p:spPr>
          <a:xfrm>
            <a:off x="6053328" y="329184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Line chart shows alternating Summer/Winter editions. The dual-peak pattern in 1980 and 1992 reflects years with both Summer and Winter Games hosted.</a:t>
            </a:r>
            <a:endParaRPr lang="en-US" sz="1000" dirty="0"/>
          </a:p>
        </p:txBody>
      </p:sp>
      <p:sp>
        <p:nvSpPr>
          <p:cNvPr id="18" name="Shape 15"/>
          <p:cNvSpPr/>
          <p:nvPr/>
        </p:nvSpPr>
        <p:spPr>
          <a:xfrm>
            <a:off x="5870448" y="3886200"/>
            <a:ext cx="2926080" cy="8686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9" name="Shape 16"/>
          <p:cNvSpPr/>
          <p:nvPr/>
        </p:nvSpPr>
        <p:spPr>
          <a:xfrm>
            <a:off x="5870448" y="3886200"/>
            <a:ext cx="64008" cy="868680"/>
          </a:xfrm>
          <a:prstGeom prst="rect">
            <a:avLst/>
          </a:prstGeom>
          <a:solidFill>
            <a:srgbClr val="1E90FF"/>
          </a:solidFill>
          <a:ln w="12700">
            <a:solidFill>
              <a:srgbClr val="1E90FF"/>
            </a:solidFill>
            <a:prstDash val="solid"/>
          </a:ln>
        </p:spPr>
      </p:sp>
      <p:sp>
        <p:nvSpPr>
          <p:cNvPr id="20" name="Text 17"/>
          <p:cNvSpPr/>
          <p:nvPr/>
        </p:nvSpPr>
        <p:spPr>
          <a:xfrm>
            <a:off x="6053328" y="395935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Games by City (Bar)</a:t>
            </a:r>
            <a:endParaRPr lang="en-US" sz="1150" dirty="0"/>
          </a:p>
        </p:txBody>
      </p:sp>
      <p:sp>
        <p:nvSpPr>
          <p:cNvPr id="21" name="Text 18"/>
          <p:cNvSpPr/>
          <p:nvPr/>
        </p:nvSpPr>
        <p:spPr>
          <a:xfrm>
            <a:off x="6053328" y="425196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Europe hosts ~12 Games vs Americas ~4 vs Asia ~4. Oceania and Europe[a] regions each host 1–2 times. Africa: zero.</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C1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814"/>
          </a:solidFill>
          <a:ln w="12700">
            <a:solidFill>
              <a:srgbClr val="0A0814"/>
            </a:solidFill>
            <a:prstDash val="solid"/>
          </a:ln>
        </p:spPr>
      </p:sp>
      <p:sp>
        <p:nvSpPr>
          <p:cNvPr id="3" name="Shape 1"/>
          <p:cNvSpPr/>
          <p:nvPr/>
        </p:nvSpPr>
        <p:spPr>
          <a:xfrm>
            <a:off x="0" y="0"/>
            <a:ext cx="118872" cy="960120"/>
          </a:xfrm>
          <a:prstGeom prst="rect">
            <a:avLst/>
          </a:prstGeom>
          <a:solidFill>
            <a:srgbClr val="E63946"/>
          </a:solidFill>
          <a:ln w="12700">
            <a:solidFill>
              <a:srgbClr val="E63946"/>
            </a:solidFill>
            <a:prstDash val="solid"/>
          </a:ln>
        </p:spPr>
      </p:sp>
      <p:sp>
        <p:nvSpPr>
          <p:cNvPr id="4" name="Text 2"/>
          <p:cNvSpPr/>
          <p:nvPr/>
        </p:nvSpPr>
        <p:spPr>
          <a:xfrm>
            <a:off x="292608" y="0"/>
            <a:ext cx="5486400" cy="548640"/>
          </a:xfrm>
          <a:prstGeom prst="rect">
            <a:avLst/>
          </a:prstGeom>
          <a:noFill/>
          <a:ln/>
        </p:spPr>
        <p:txBody>
          <a:bodyPr wrap="square" lIns="0" tIns="0" rIns="0" bIns="0" rtlCol="0" anchor="ctr"/>
          <a:lstStyle/>
          <a:p>
            <a:pPr indent="0" marL="0">
              <a:buNone/>
            </a:pPr>
            <a:r>
              <a:rPr lang="en-US" sz="2000" b="1" spc="300" kern="0" dirty="0">
                <a:solidFill>
                  <a:srgbClr val="E63946"/>
                </a:solidFill>
                <a:latin typeface="Calibri" pitchFamily="34" charset="0"/>
                <a:ea typeface="Calibri" pitchFamily="34" charset="-122"/>
                <a:cs typeface="Calibri" pitchFamily="34" charset="-120"/>
              </a:rPr>
              <a:t>⚠  ANALYTICAL INSIGHT</a:t>
            </a:r>
            <a:endParaRPr lang="en-US" sz="2000" dirty="0"/>
          </a:p>
        </p:txBody>
      </p:sp>
      <p:sp>
        <p:nvSpPr>
          <p:cNvPr id="5" name="Text 3"/>
          <p:cNvSpPr/>
          <p:nvPr/>
        </p:nvSpPr>
        <p:spPr>
          <a:xfrm>
            <a:off x="292608" y="530352"/>
            <a:ext cx="8595360"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Olympic Hosting Rights Are Concentrated in Europe and the Americas</a:t>
            </a:r>
            <a:endParaRPr lang="en-US" sz="1400" dirty="0"/>
          </a:p>
        </p:txBody>
      </p:sp>
      <p:sp>
        <p:nvSpPr>
          <p:cNvPr id="6" name="Shape 4"/>
          <p:cNvSpPr/>
          <p:nvPr/>
        </p:nvSpPr>
        <p:spPr>
          <a:xfrm>
            <a:off x="347472" y="1024128"/>
            <a:ext cx="1572768" cy="1783080"/>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47472" y="1024128"/>
            <a:ext cx="1572768" cy="54864"/>
          </a:xfrm>
          <a:prstGeom prst="rect">
            <a:avLst/>
          </a:prstGeom>
          <a:solidFill>
            <a:srgbClr val="E63946"/>
          </a:solidFill>
          <a:ln w="12700">
            <a:solidFill>
              <a:srgbClr val="E63946"/>
            </a:solidFill>
            <a:prstDash val="solid"/>
          </a:ln>
        </p:spPr>
      </p:sp>
      <p:sp>
        <p:nvSpPr>
          <p:cNvPr id="8" name="Text 6"/>
          <p:cNvSpPr/>
          <p:nvPr/>
        </p:nvSpPr>
        <p:spPr>
          <a:xfrm>
            <a:off x="347472" y="1115568"/>
            <a:ext cx="1572768" cy="713232"/>
          </a:xfrm>
          <a:prstGeom prst="rect">
            <a:avLst/>
          </a:prstGeom>
          <a:noFill/>
          <a:ln/>
        </p:spPr>
        <p:txBody>
          <a:bodyPr wrap="square" lIns="0" tIns="0" rIns="0" bIns="0" rtlCol="0" anchor="ctr"/>
          <a:lstStyle/>
          <a:p>
            <a:pPr algn="ctr" indent="0" marL="0">
              <a:buNone/>
            </a:pPr>
            <a:r>
              <a:rPr lang="en-US" sz="3600" b="1" dirty="0">
                <a:solidFill>
                  <a:srgbClr val="E63946"/>
                </a:solidFill>
                <a:latin typeface="Calibri" pitchFamily="34" charset="0"/>
                <a:ea typeface="Calibri" pitchFamily="34" charset="-122"/>
                <a:cs typeface="Calibri" pitchFamily="34" charset="-120"/>
              </a:rPr>
              <a:t>~12</a:t>
            </a:r>
            <a:endParaRPr lang="en-US" sz="3600" dirty="0"/>
          </a:p>
        </p:txBody>
      </p:sp>
      <p:sp>
        <p:nvSpPr>
          <p:cNvPr id="9" name="Text 7"/>
          <p:cNvSpPr/>
          <p:nvPr/>
        </p:nvSpPr>
        <p:spPr>
          <a:xfrm>
            <a:off x="347472" y="1847088"/>
            <a:ext cx="1572768" cy="274320"/>
          </a:xfrm>
          <a:prstGeom prst="rect">
            <a:avLst/>
          </a:prstGeom>
          <a:noFill/>
          <a:ln/>
        </p:spPr>
        <p:txBody>
          <a:bodyPr wrap="square" lIns="0" tIns="0" rIns="0" bIns="0" rtlCol="0" anchor="ctr"/>
          <a:lstStyle/>
          <a:p>
            <a:pPr algn="ctr" indent="0" marL="0">
              <a:buNone/>
            </a:pPr>
            <a:r>
              <a:rPr lang="en-US" sz="1000" dirty="0">
                <a:solidFill>
                  <a:srgbClr val="B8C5D6"/>
                </a:solidFill>
                <a:latin typeface="Calibri" pitchFamily="34" charset="0"/>
                <a:ea typeface="Calibri" pitchFamily="34" charset="-122"/>
                <a:cs typeface="Calibri" pitchFamily="34" charset="-120"/>
              </a:rPr>
              <a:t>Games Hosted</a:t>
            </a:r>
            <a:endParaRPr lang="en-US" sz="1000" dirty="0"/>
          </a:p>
        </p:txBody>
      </p:sp>
      <p:sp>
        <p:nvSpPr>
          <p:cNvPr id="10" name="Text 8"/>
          <p:cNvSpPr/>
          <p:nvPr/>
        </p:nvSpPr>
        <p:spPr>
          <a:xfrm>
            <a:off x="347472" y="2139696"/>
            <a:ext cx="157276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Europe</a:t>
            </a:r>
            <a:endParaRPr lang="en-US" sz="1400" dirty="0"/>
          </a:p>
        </p:txBody>
      </p:sp>
      <p:sp>
        <p:nvSpPr>
          <p:cNvPr id="11" name="Shape 9"/>
          <p:cNvSpPr/>
          <p:nvPr/>
        </p:nvSpPr>
        <p:spPr>
          <a:xfrm>
            <a:off x="2066544" y="1024128"/>
            <a:ext cx="1572768" cy="178308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066544" y="1024128"/>
            <a:ext cx="1572768" cy="54864"/>
          </a:xfrm>
          <a:prstGeom prst="rect">
            <a:avLst/>
          </a:prstGeom>
          <a:solidFill>
            <a:srgbClr val="1E90FF"/>
          </a:solidFill>
          <a:ln w="12700">
            <a:solidFill>
              <a:srgbClr val="1E90FF"/>
            </a:solidFill>
            <a:prstDash val="solid"/>
          </a:ln>
        </p:spPr>
      </p:sp>
      <p:sp>
        <p:nvSpPr>
          <p:cNvPr id="13" name="Text 11"/>
          <p:cNvSpPr/>
          <p:nvPr/>
        </p:nvSpPr>
        <p:spPr>
          <a:xfrm>
            <a:off x="2066544" y="1115568"/>
            <a:ext cx="1572768" cy="713232"/>
          </a:xfrm>
          <a:prstGeom prst="rect">
            <a:avLst/>
          </a:prstGeom>
          <a:noFill/>
          <a:ln/>
        </p:spPr>
        <p:txBody>
          <a:bodyPr wrap="square" lIns="0" tIns="0" rIns="0" bIns="0" rtlCol="0" anchor="ctr"/>
          <a:lstStyle/>
          <a:p>
            <a:pPr algn="ctr" indent="0" marL="0">
              <a:buNone/>
            </a:pPr>
            <a:r>
              <a:rPr lang="en-US" sz="3600" b="1" dirty="0">
                <a:solidFill>
                  <a:srgbClr val="1E90FF"/>
                </a:solidFill>
                <a:latin typeface="Calibri" pitchFamily="34" charset="0"/>
                <a:ea typeface="Calibri" pitchFamily="34" charset="-122"/>
                <a:cs typeface="Calibri" pitchFamily="34" charset="-120"/>
              </a:rPr>
              <a:t>~4</a:t>
            </a:r>
            <a:endParaRPr lang="en-US" sz="3600" dirty="0"/>
          </a:p>
        </p:txBody>
      </p:sp>
      <p:sp>
        <p:nvSpPr>
          <p:cNvPr id="14" name="Text 12"/>
          <p:cNvSpPr/>
          <p:nvPr/>
        </p:nvSpPr>
        <p:spPr>
          <a:xfrm>
            <a:off x="2066544" y="1847088"/>
            <a:ext cx="1572768" cy="274320"/>
          </a:xfrm>
          <a:prstGeom prst="rect">
            <a:avLst/>
          </a:prstGeom>
          <a:noFill/>
          <a:ln/>
        </p:spPr>
        <p:txBody>
          <a:bodyPr wrap="square" lIns="0" tIns="0" rIns="0" bIns="0" rtlCol="0" anchor="ctr"/>
          <a:lstStyle/>
          <a:p>
            <a:pPr algn="ctr" indent="0" marL="0">
              <a:buNone/>
            </a:pPr>
            <a:r>
              <a:rPr lang="en-US" sz="1000" dirty="0">
                <a:solidFill>
                  <a:srgbClr val="B8C5D6"/>
                </a:solidFill>
                <a:latin typeface="Calibri" pitchFamily="34" charset="0"/>
                <a:ea typeface="Calibri" pitchFamily="34" charset="-122"/>
                <a:cs typeface="Calibri" pitchFamily="34" charset="-120"/>
              </a:rPr>
              <a:t>Games Hosted</a:t>
            </a:r>
            <a:endParaRPr lang="en-US" sz="1000" dirty="0"/>
          </a:p>
        </p:txBody>
      </p:sp>
      <p:sp>
        <p:nvSpPr>
          <p:cNvPr id="15" name="Text 13"/>
          <p:cNvSpPr/>
          <p:nvPr/>
        </p:nvSpPr>
        <p:spPr>
          <a:xfrm>
            <a:off x="2066544" y="2139696"/>
            <a:ext cx="157276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Americas</a:t>
            </a:r>
            <a:endParaRPr lang="en-US" sz="1400" dirty="0"/>
          </a:p>
        </p:txBody>
      </p:sp>
      <p:sp>
        <p:nvSpPr>
          <p:cNvPr id="16" name="Shape 14"/>
          <p:cNvSpPr/>
          <p:nvPr/>
        </p:nvSpPr>
        <p:spPr>
          <a:xfrm>
            <a:off x="3785616" y="1024128"/>
            <a:ext cx="1572768" cy="178308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3785616" y="1024128"/>
            <a:ext cx="1572768" cy="54864"/>
          </a:xfrm>
          <a:prstGeom prst="rect">
            <a:avLst/>
          </a:prstGeom>
          <a:solidFill>
            <a:srgbClr val="00B4D8"/>
          </a:solidFill>
          <a:ln w="12700">
            <a:solidFill>
              <a:srgbClr val="00B4D8"/>
            </a:solidFill>
            <a:prstDash val="solid"/>
          </a:ln>
        </p:spPr>
      </p:sp>
      <p:sp>
        <p:nvSpPr>
          <p:cNvPr id="18" name="Text 16"/>
          <p:cNvSpPr/>
          <p:nvPr/>
        </p:nvSpPr>
        <p:spPr>
          <a:xfrm>
            <a:off x="3785616" y="1115568"/>
            <a:ext cx="1572768" cy="713232"/>
          </a:xfrm>
          <a:prstGeom prst="rect">
            <a:avLst/>
          </a:prstGeom>
          <a:noFill/>
          <a:ln/>
        </p:spPr>
        <p:txBody>
          <a:bodyPr wrap="square" lIns="0" tIns="0" rIns="0" bIns="0" rtlCol="0" anchor="ctr"/>
          <a:lstStyle/>
          <a:p>
            <a:pPr algn="ctr" indent="0" marL="0">
              <a:buNone/>
            </a:pPr>
            <a:r>
              <a:rPr lang="en-US" sz="3600" b="1" dirty="0">
                <a:solidFill>
                  <a:srgbClr val="00B4D8"/>
                </a:solidFill>
                <a:latin typeface="Calibri" pitchFamily="34" charset="0"/>
                <a:ea typeface="Calibri" pitchFamily="34" charset="-122"/>
                <a:cs typeface="Calibri" pitchFamily="34" charset="-120"/>
              </a:rPr>
              <a:t>~4</a:t>
            </a:r>
            <a:endParaRPr lang="en-US" sz="3600" dirty="0"/>
          </a:p>
        </p:txBody>
      </p:sp>
      <p:sp>
        <p:nvSpPr>
          <p:cNvPr id="19" name="Text 17"/>
          <p:cNvSpPr/>
          <p:nvPr/>
        </p:nvSpPr>
        <p:spPr>
          <a:xfrm>
            <a:off x="3785616" y="1847088"/>
            <a:ext cx="1572768" cy="274320"/>
          </a:xfrm>
          <a:prstGeom prst="rect">
            <a:avLst/>
          </a:prstGeom>
          <a:noFill/>
          <a:ln/>
        </p:spPr>
        <p:txBody>
          <a:bodyPr wrap="square" lIns="0" tIns="0" rIns="0" bIns="0" rtlCol="0" anchor="ctr"/>
          <a:lstStyle/>
          <a:p>
            <a:pPr algn="ctr" indent="0" marL="0">
              <a:buNone/>
            </a:pPr>
            <a:r>
              <a:rPr lang="en-US" sz="1000" dirty="0">
                <a:solidFill>
                  <a:srgbClr val="B8C5D6"/>
                </a:solidFill>
                <a:latin typeface="Calibri" pitchFamily="34" charset="0"/>
                <a:ea typeface="Calibri" pitchFamily="34" charset="-122"/>
                <a:cs typeface="Calibri" pitchFamily="34" charset="-120"/>
              </a:rPr>
              <a:t>Games Hosted</a:t>
            </a:r>
            <a:endParaRPr lang="en-US" sz="1000" dirty="0"/>
          </a:p>
        </p:txBody>
      </p:sp>
      <p:sp>
        <p:nvSpPr>
          <p:cNvPr id="20" name="Text 18"/>
          <p:cNvSpPr/>
          <p:nvPr/>
        </p:nvSpPr>
        <p:spPr>
          <a:xfrm>
            <a:off x="3785616" y="2139696"/>
            <a:ext cx="157276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Asia</a:t>
            </a:r>
            <a:endParaRPr lang="en-US" sz="1400" dirty="0"/>
          </a:p>
        </p:txBody>
      </p:sp>
      <p:sp>
        <p:nvSpPr>
          <p:cNvPr id="21" name="Shape 19"/>
          <p:cNvSpPr/>
          <p:nvPr/>
        </p:nvSpPr>
        <p:spPr>
          <a:xfrm>
            <a:off x="5504688" y="1024128"/>
            <a:ext cx="1572768" cy="178308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5504688" y="1024128"/>
            <a:ext cx="1572768" cy="54864"/>
          </a:xfrm>
          <a:prstGeom prst="rect">
            <a:avLst/>
          </a:prstGeom>
          <a:solidFill>
            <a:srgbClr val="2DC653"/>
          </a:solidFill>
          <a:ln w="12700">
            <a:solidFill>
              <a:srgbClr val="2DC653"/>
            </a:solidFill>
            <a:prstDash val="solid"/>
          </a:ln>
        </p:spPr>
      </p:sp>
      <p:sp>
        <p:nvSpPr>
          <p:cNvPr id="23" name="Text 21"/>
          <p:cNvSpPr/>
          <p:nvPr/>
        </p:nvSpPr>
        <p:spPr>
          <a:xfrm>
            <a:off x="5504688" y="1115568"/>
            <a:ext cx="1572768" cy="713232"/>
          </a:xfrm>
          <a:prstGeom prst="rect">
            <a:avLst/>
          </a:prstGeom>
          <a:noFill/>
          <a:ln/>
        </p:spPr>
        <p:txBody>
          <a:bodyPr wrap="square" lIns="0" tIns="0" rIns="0" bIns="0" rtlCol="0" anchor="ctr"/>
          <a:lstStyle/>
          <a:p>
            <a:pPr algn="ctr" indent="0" marL="0">
              <a:buNone/>
            </a:pPr>
            <a:r>
              <a:rPr lang="en-US" sz="3600" b="1" dirty="0">
                <a:solidFill>
                  <a:srgbClr val="2DC653"/>
                </a:solidFill>
                <a:latin typeface="Calibri" pitchFamily="34" charset="0"/>
                <a:ea typeface="Calibri" pitchFamily="34" charset="-122"/>
                <a:cs typeface="Calibri" pitchFamily="34" charset="-120"/>
              </a:rPr>
              <a:t>~2</a:t>
            </a:r>
            <a:endParaRPr lang="en-US" sz="3600" dirty="0"/>
          </a:p>
        </p:txBody>
      </p:sp>
      <p:sp>
        <p:nvSpPr>
          <p:cNvPr id="24" name="Text 22"/>
          <p:cNvSpPr/>
          <p:nvPr/>
        </p:nvSpPr>
        <p:spPr>
          <a:xfrm>
            <a:off x="5504688" y="1847088"/>
            <a:ext cx="1572768" cy="274320"/>
          </a:xfrm>
          <a:prstGeom prst="rect">
            <a:avLst/>
          </a:prstGeom>
          <a:noFill/>
          <a:ln/>
        </p:spPr>
        <p:txBody>
          <a:bodyPr wrap="square" lIns="0" tIns="0" rIns="0" bIns="0" rtlCol="0" anchor="ctr"/>
          <a:lstStyle/>
          <a:p>
            <a:pPr algn="ctr" indent="0" marL="0">
              <a:buNone/>
            </a:pPr>
            <a:r>
              <a:rPr lang="en-US" sz="1000" dirty="0">
                <a:solidFill>
                  <a:srgbClr val="B8C5D6"/>
                </a:solidFill>
                <a:latin typeface="Calibri" pitchFamily="34" charset="0"/>
                <a:ea typeface="Calibri" pitchFamily="34" charset="-122"/>
                <a:cs typeface="Calibri" pitchFamily="34" charset="-120"/>
              </a:rPr>
              <a:t>Games Hosted</a:t>
            </a:r>
            <a:endParaRPr lang="en-US" sz="1000" dirty="0"/>
          </a:p>
        </p:txBody>
      </p:sp>
      <p:sp>
        <p:nvSpPr>
          <p:cNvPr id="25" name="Text 23"/>
          <p:cNvSpPr/>
          <p:nvPr/>
        </p:nvSpPr>
        <p:spPr>
          <a:xfrm>
            <a:off x="5504688" y="2139696"/>
            <a:ext cx="157276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Oceania</a:t>
            </a:r>
            <a:endParaRPr lang="en-US" sz="1400" dirty="0"/>
          </a:p>
        </p:txBody>
      </p:sp>
      <p:sp>
        <p:nvSpPr>
          <p:cNvPr id="26" name="Shape 24"/>
          <p:cNvSpPr/>
          <p:nvPr/>
        </p:nvSpPr>
        <p:spPr>
          <a:xfrm>
            <a:off x="7223760" y="1024128"/>
            <a:ext cx="1572768" cy="1783080"/>
          </a:xfrm>
          <a:prstGeom prst="rect">
            <a:avLst/>
          </a:prstGeom>
          <a:solidFill>
            <a:srgbClr val="152B50"/>
          </a:solidFill>
          <a:ln w="15240">
            <a:solidFill>
              <a:srgbClr val="7A8FA8"/>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7223760" y="1024128"/>
            <a:ext cx="1572768" cy="54864"/>
          </a:xfrm>
          <a:prstGeom prst="rect">
            <a:avLst/>
          </a:prstGeom>
          <a:solidFill>
            <a:srgbClr val="7A8FA8"/>
          </a:solidFill>
          <a:ln w="12700">
            <a:solidFill>
              <a:srgbClr val="7A8FA8"/>
            </a:solidFill>
            <a:prstDash val="solid"/>
          </a:ln>
        </p:spPr>
      </p:sp>
      <p:sp>
        <p:nvSpPr>
          <p:cNvPr id="28" name="Text 26"/>
          <p:cNvSpPr/>
          <p:nvPr/>
        </p:nvSpPr>
        <p:spPr>
          <a:xfrm>
            <a:off x="7223760" y="1115568"/>
            <a:ext cx="1572768" cy="713232"/>
          </a:xfrm>
          <a:prstGeom prst="rect">
            <a:avLst/>
          </a:prstGeom>
          <a:noFill/>
          <a:ln/>
        </p:spPr>
        <p:txBody>
          <a:bodyPr wrap="square" lIns="0" tIns="0" rIns="0" bIns="0" rtlCol="0" anchor="ctr"/>
          <a:lstStyle/>
          <a:p>
            <a:pPr algn="ctr" indent="0" marL="0">
              <a:buNone/>
            </a:pPr>
            <a:r>
              <a:rPr lang="en-US" sz="3600" b="1" dirty="0">
                <a:solidFill>
                  <a:srgbClr val="7A8FA8"/>
                </a:solidFill>
                <a:latin typeface="Calibri" pitchFamily="34" charset="0"/>
                <a:ea typeface="Calibri" pitchFamily="34" charset="-122"/>
                <a:cs typeface="Calibri" pitchFamily="34" charset="-120"/>
              </a:rPr>
              <a:t>0</a:t>
            </a:r>
            <a:endParaRPr lang="en-US" sz="3600" dirty="0"/>
          </a:p>
        </p:txBody>
      </p:sp>
      <p:sp>
        <p:nvSpPr>
          <p:cNvPr id="29" name="Text 27"/>
          <p:cNvSpPr/>
          <p:nvPr/>
        </p:nvSpPr>
        <p:spPr>
          <a:xfrm>
            <a:off x="7223760" y="1847088"/>
            <a:ext cx="1572768" cy="274320"/>
          </a:xfrm>
          <a:prstGeom prst="rect">
            <a:avLst/>
          </a:prstGeom>
          <a:noFill/>
          <a:ln/>
        </p:spPr>
        <p:txBody>
          <a:bodyPr wrap="square" lIns="0" tIns="0" rIns="0" bIns="0" rtlCol="0" anchor="ctr"/>
          <a:lstStyle/>
          <a:p>
            <a:pPr algn="ctr" indent="0" marL="0">
              <a:buNone/>
            </a:pPr>
            <a:r>
              <a:rPr lang="en-US" sz="1000" dirty="0">
                <a:solidFill>
                  <a:srgbClr val="B8C5D6"/>
                </a:solidFill>
                <a:latin typeface="Calibri" pitchFamily="34" charset="0"/>
                <a:ea typeface="Calibri" pitchFamily="34" charset="-122"/>
                <a:cs typeface="Calibri" pitchFamily="34" charset="-120"/>
              </a:rPr>
              <a:t>Games Hosted</a:t>
            </a:r>
            <a:endParaRPr lang="en-US" sz="1000" dirty="0"/>
          </a:p>
        </p:txBody>
      </p:sp>
      <p:sp>
        <p:nvSpPr>
          <p:cNvPr id="30" name="Text 28"/>
          <p:cNvSpPr/>
          <p:nvPr/>
        </p:nvSpPr>
        <p:spPr>
          <a:xfrm>
            <a:off x="7223760" y="2139696"/>
            <a:ext cx="157276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Africa</a:t>
            </a:r>
            <a:endParaRPr lang="en-US" sz="1400" dirty="0"/>
          </a:p>
        </p:txBody>
      </p:sp>
      <p:sp>
        <p:nvSpPr>
          <p:cNvPr id="31" name="Shape 29"/>
          <p:cNvSpPr/>
          <p:nvPr/>
        </p:nvSpPr>
        <p:spPr>
          <a:xfrm>
            <a:off x="347472" y="2971800"/>
            <a:ext cx="8458200" cy="621792"/>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347472" y="2971800"/>
            <a:ext cx="64008" cy="621792"/>
          </a:xfrm>
          <a:prstGeom prst="rect">
            <a:avLst/>
          </a:prstGeom>
          <a:solidFill>
            <a:srgbClr val="E63946"/>
          </a:solidFill>
          <a:ln w="12700">
            <a:solidFill>
              <a:srgbClr val="E63946"/>
            </a:solidFill>
            <a:prstDash val="solid"/>
          </a:ln>
        </p:spPr>
      </p:sp>
      <p:sp>
        <p:nvSpPr>
          <p:cNvPr id="33" name="Text 31"/>
          <p:cNvSpPr/>
          <p:nvPr/>
        </p:nvSpPr>
        <p:spPr>
          <a:xfrm>
            <a:off x="548640" y="3035808"/>
            <a:ext cx="23774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Africa Has Never Hosted</a:t>
            </a:r>
            <a:endParaRPr lang="en-US" sz="1200" dirty="0"/>
          </a:p>
        </p:txBody>
      </p:sp>
      <p:sp>
        <p:nvSpPr>
          <p:cNvPr id="34" name="Text 32"/>
          <p:cNvSpPr/>
          <p:nvPr/>
        </p:nvSpPr>
        <p:spPr>
          <a:xfrm>
            <a:off x="3017520" y="3035808"/>
            <a:ext cx="5650992" cy="493776"/>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Across the entire 1960–2018 dataset period, no African city has hosted the Olympic Games. With 1.4 billion people and the world's fastest-growing youth population, this is the most significant equity gap in the location data.</a:t>
            </a:r>
            <a:endParaRPr lang="en-US" sz="1050" dirty="0"/>
          </a:p>
        </p:txBody>
      </p:sp>
      <p:sp>
        <p:nvSpPr>
          <p:cNvPr id="35" name="Shape 33"/>
          <p:cNvSpPr/>
          <p:nvPr/>
        </p:nvSpPr>
        <p:spPr>
          <a:xfrm>
            <a:off x="347472" y="3685032"/>
            <a:ext cx="8458200" cy="621792"/>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36" name="Shape 34"/>
          <p:cNvSpPr/>
          <p:nvPr/>
        </p:nvSpPr>
        <p:spPr>
          <a:xfrm>
            <a:off x="347472" y="3685032"/>
            <a:ext cx="64008" cy="621792"/>
          </a:xfrm>
          <a:prstGeom prst="rect">
            <a:avLst/>
          </a:prstGeom>
          <a:solidFill>
            <a:srgbClr val="E63946"/>
          </a:solidFill>
          <a:ln w="12700">
            <a:solidFill>
              <a:srgbClr val="E63946"/>
            </a:solidFill>
            <a:prstDash val="solid"/>
          </a:ln>
        </p:spPr>
      </p:sp>
      <p:sp>
        <p:nvSpPr>
          <p:cNvPr id="37" name="Text 35"/>
          <p:cNvSpPr/>
          <p:nvPr/>
        </p:nvSpPr>
        <p:spPr>
          <a:xfrm>
            <a:off x="548640" y="3749040"/>
            <a:ext cx="23774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Hosting Drives Performance</a:t>
            </a:r>
            <a:endParaRPr lang="en-US" sz="1200" dirty="0"/>
          </a:p>
        </p:txBody>
      </p:sp>
      <p:sp>
        <p:nvSpPr>
          <p:cNvPr id="38" name="Text 36"/>
          <p:cNvSpPr/>
          <p:nvPr/>
        </p:nvSpPr>
        <p:spPr>
          <a:xfrm>
            <a:off x="3017520" y="3749040"/>
            <a:ext cx="5650992" cy="493776"/>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Research shows host nations consistently outperform their historical medal average in the year they host. By never hosting, African nations miss this performance catalyst — compounding their medal disadvantage.</a:t>
            </a:r>
            <a:endParaRPr lang="en-US" sz="1050" dirty="0"/>
          </a:p>
        </p:txBody>
      </p:sp>
      <p:sp>
        <p:nvSpPr>
          <p:cNvPr id="39" name="Shape 37"/>
          <p:cNvSpPr/>
          <p:nvPr/>
        </p:nvSpPr>
        <p:spPr>
          <a:xfrm>
            <a:off x="347472" y="4398264"/>
            <a:ext cx="8458200" cy="621792"/>
          </a:xfrm>
          <a:prstGeom prst="rect">
            <a:avLst/>
          </a:prstGeom>
          <a:solidFill>
            <a:srgbClr val="152B50"/>
          </a:solidFill>
          <a:ln w="15240">
            <a:solidFill>
              <a:srgbClr val="1A3560"/>
            </a:solidFill>
            <a:prstDash val="solid"/>
          </a:ln>
          <a:effectLst>
            <a:outerShdw sx="100000" sy="100000" kx="0" ky="0" algn="bl" rotWithShape="0" blurRad="101600" dist="38100" dir="8100000">
              <a:srgbClr val="000000">
                <a:alpha val="18000"/>
              </a:srgbClr>
            </a:outerShdw>
          </a:effectLst>
        </p:spPr>
      </p:sp>
      <p:sp>
        <p:nvSpPr>
          <p:cNvPr id="40" name="Shape 38"/>
          <p:cNvSpPr/>
          <p:nvPr/>
        </p:nvSpPr>
        <p:spPr>
          <a:xfrm>
            <a:off x="347472" y="4398264"/>
            <a:ext cx="64008" cy="621792"/>
          </a:xfrm>
          <a:prstGeom prst="rect">
            <a:avLst/>
          </a:prstGeom>
          <a:solidFill>
            <a:srgbClr val="E63946"/>
          </a:solidFill>
          <a:ln w="12700">
            <a:solidFill>
              <a:srgbClr val="E63946"/>
            </a:solidFill>
            <a:prstDash val="solid"/>
          </a:ln>
        </p:spPr>
      </p:sp>
      <p:sp>
        <p:nvSpPr>
          <p:cNvPr id="41" name="Text 39"/>
          <p:cNvSpPr/>
          <p:nvPr/>
        </p:nvSpPr>
        <p:spPr>
          <a:xfrm>
            <a:off x="548640" y="4462272"/>
            <a:ext cx="237744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Economic Benefits Concentrated</a:t>
            </a:r>
            <a:endParaRPr lang="en-US" sz="1200" dirty="0"/>
          </a:p>
        </p:txBody>
      </p:sp>
      <p:sp>
        <p:nvSpPr>
          <p:cNvPr id="42" name="Text 40"/>
          <p:cNvSpPr/>
          <p:nvPr/>
        </p:nvSpPr>
        <p:spPr>
          <a:xfrm>
            <a:off x="3017520" y="4462272"/>
            <a:ext cx="5650992" cy="493776"/>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The multi-billion-dollar infrastructure investment and tourism boost from hosting accrues almost entirely to Europe and North America — nations that already benefit most from Olympic success.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00B4D8"/>
          </a:solidFill>
          <a:ln w="12700">
            <a:solidFill>
              <a:srgbClr val="00B4D8"/>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00B4D8"/>
                </a:solidFill>
                <a:latin typeface="Calibri" pitchFamily="34" charset="0"/>
                <a:ea typeface="Calibri" pitchFamily="34" charset="-122"/>
                <a:cs typeface="Calibri" pitchFamily="34" charset="-120"/>
              </a:rPr>
              <a:t>TRENDS OVER TIME  —  1960 to 2018</a:t>
            </a:r>
            <a:endParaRPr lang="en-US" sz="2700" dirty="0"/>
          </a:p>
        </p:txBody>
      </p:sp>
      <p:graphicFrame>
        <p:nvGraphicFramePr>
          <p:cNvPr id="5" name="Chart 0" descr=""/>
          <p:cNvGraphicFramePr/>
          <p:nvPr/>
        </p:nvGraphicFramePr>
        <p:xfrm>
          <a:off x="347472" y="1005840"/>
          <a:ext cx="534924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347472" y="3822192"/>
            <a:ext cx="5349240" cy="320040"/>
          </a:xfrm>
          <a:prstGeom prst="rect">
            <a:avLst/>
          </a:prstGeom>
          <a:noFill/>
          <a:ln/>
        </p:spPr>
        <p:txBody>
          <a:bodyPr wrap="square" lIns="0" tIns="0" rIns="0" bIns="0" rtlCol="0" anchor="ctr"/>
          <a:lstStyle/>
          <a:p>
            <a:pPr indent="0" marL="0">
              <a:buNone/>
            </a:pPr>
            <a:r>
              <a:rPr lang="en-US" sz="1000" i="1" dirty="0">
                <a:solidFill>
                  <a:srgbClr val="7A8FA8"/>
                </a:solidFill>
                <a:latin typeface="Calibri" pitchFamily="34" charset="0"/>
                <a:ea typeface="Calibri" pitchFamily="34" charset="-122"/>
                <a:cs typeface="Calibri" pitchFamily="34" charset="-120"/>
              </a:rPr>
              <a:t>Medal Trend: Oscillation Driven by Summer/Winter Alternation</a:t>
            </a:r>
            <a:endParaRPr lang="en-US" sz="1000" dirty="0"/>
          </a:p>
        </p:txBody>
      </p:sp>
      <p:sp>
        <p:nvSpPr>
          <p:cNvPr id="7" name="Shape 4"/>
          <p:cNvSpPr/>
          <p:nvPr/>
        </p:nvSpPr>
        <p:spPr>
          <a:xfrm>
            <a:off x="5870448" y="1005840"/>
            <a:ext cx="2926080" cy="804672"/>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8" name="Shape 5"/>
          <p:cNvSpPr/>
          <p:nvPr/>
        </p:nvSpPr>
        <p:spPr>
          <a:xfrm>
            <a:off x="5870448" y="1005840"/>
            <a:ext cx="64008" cy="804672"/>
          </a:xfrm>
          <a:prstGeom prst="rect">
            <a:avLst/>
          </a:prstGeom>
          <a:solidFill>
            <a:srgbClr val="00B4D8"/>
          </a:solidFill>
          <a:ln w="12700">
            <a:solidFill>
              <a:srgbClr val="00B4D8"/>
            </a:solidFill>
            <a:prstDash val="solid"/>
          </a:ln>
        </p:spPr>
      </p:sp>
      <p:sp>
        <p:nvSpPr>
          <p:cNvPr id="9" name="Text 6"/>
          <p:cNvSpPr/>
          <p:nvPr/>
        </p:nvSpPr>
        <p:spPr>
          <a:xfrm>
            <a:off x="6053328" y="1069848"/>
            <a:ext cx="2633472"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Summer/Winter Oscillation</a:t>
            </a:r>
            <a:endParaRPr lang="en-US" sz="1100" dirty="0"/>
          </a:p>
        </p:txBody>
      </p:sp>
      <p:sp>
        <p:nvSpPr>
          <p:cNvPr id="10" name="Text 7"/>
          <p:cNvSpPr/>
          <p:nvPr/>
        </p:nvSpPr>
        <p:spPr>
          <a:xfrm>
            <a:off x="6053328" y="1344168"/>
            <a:ext cx="2633472" cy="402336"/>
          </a:xfrm>
          <a:prstGeom prst="rect">
            <a:avLst/>
          </a:prstGeom>
          <a:noFill/>
          <a:ln/>
        </p:spPr>
        <p:txBody>
          <a:bodyPr wrap="square" lIns="0" tIns="0" rIns="0" bIns="0" rtlCol="0" anchor="ctr"/>
          <a:lstStyle/>
          <a:p>
            <a:pPr indent="0" marL="0">
              <a:buNone/>
            </a:pPr>
            <a:r>
              <a:rPr lang="en-US" sz="980" dirty="0">
                <a:solidFill>
                  <a:srgbClr val="B8C5D6"/>
                </a:solidFill>
                <a:latin typeface="Calibri" pitchFamily="34" charset="0"/>
                <a:ea typeface="Calibri" pitchFamily="34" charset="-122"/>
                <a:cs typeface="Calibri" pitchFamily="34" charset="-120"/>
              </a:rPr>
              <a:t>The medal count alternates dramatically — Summer Games (e.g. 1980: 1,389) produce 4–5× more medals than Winter Games (e.g. 2018: 398). The trend chart visualises this structural pattern clearly.</a:t>
            </a:r>
            <a:endParaRPr lang="en-US" sz="980" dirty="0"/>
          </a:p>
        </p:txBody>
      </p:sp>
      <p:sp>
        <p:nvSpPr>
          <p:cNvPr id="11" name="Shape 8"/>
          <p:cNvSpPr/>
          <p:nvPr/>
        </p:nvSpPr>
        <p:spPr>
          <a:xfrm>
            <a:off x="5870448" y="1920240"/>
            <a:ext cx="2926080" cy="804672"/>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5870448" y="1920240"/>
            <a:ext cx="64008" cy="804672"/>
          </a:xfrm>
          <a:prstGeom prst="rect">
            <a:avLst/>
          </a:prstGeom>
          <a:solidFill>
            <a:srgbClr val="D4AF37"/>
          </a:solidFill>
          <a:ln w="12700">
            <a:solidFill>
              <a:srgbClr val="D4AF37"/>
            </a:solidFill>
            <a:prstDash val="solid"/>
          </a:ln>
        </p:spPr>
      </p:sp>
      <p:sp>
        <p:nvSpPr>
          <p:cNvPr id="13" name="Text 10"/>
          <p:cNvSpPr/>
          <p:nvPr/>
        </p:nvSpPr>
        <p:spPr>
          <a:xfrm>
            <a:off x="6053328" y="1984248"/>
            <a:ext cx="2633472"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Long-Term Growth (1960→2016)</a:t>
            </a:r>
            <a:endParaRPr lang="en-US" sz="1100" dirty="0"/>
          </a:p>
        </p:txBody>
      </p:sp>
      <p:sp>
        <p:nvSpPr>
          <p:cNvPr id="14" name="Text 11"/>
          <p:cNvSpPr/>
          <p:nvPr/>
        </p:nvSpPr>
        <p:spPr>
          <a:xfrm>
            <a:off x="6053328" y="2258568"/>
            <a:ext cx="2633472" cy="402336"/>
          </a:xfrm>
          <a:prstGeom prst="rect">
            <a:avLst/>
          </a:prstGeom>
          <a:noFill/>
          <a:ln/>
        </p:spPr>
        <p:txBody>
          <a:bodyPr wrap="square" lIns="0" tIns="0" rIns="0" bIns="0" rtlCol="0" anchor="ctr"/>
          <a:lstStyle/>
          <a:p>
            <a:pPr indent="0" marL="0">
              <a:buNone/>
            </a:pPr>
            <a:r>
              <a:rPr lang="en-US" sz="980" dirty="0">
                <a:solidFill>
                  <a:srgbClr val="B8C5D6"/>
                </a:solidFill>
                <a:latin typeface="Calibri" pitchFamily="34" charset="0"/>
                <a:ea typeface="Calibri" pitchFamily="34" charset="-122"/>
                <a:cs typeface="Calibri" pitchFamily="34" charset="-120"/>
              </a:rPr>
              <a:t>Overall medal volume grew from 282 (1960) to a peak of 1,389 (1980) and settled around ~950–1,150 in the modern era, reflecting expanded sport programmes.</a:t>
            </a:r>
            <a:endParaRPr lang="en-US" sz="980" dirty="0"/>
          </a:p>
        </p:txBody>
      </p:sp>
      <p:sp>
        <p:nvSpPr>
          <p:cNvPr id="15" name="Shape 12"/>
          <p:cNvSpPr/>
          <p:nvPr/>
        </p:nvSpPr>
        <p:spPr>
          <a:xfrm>
            <a:off x="5870448" y="2834640"/>
            <a:ext cx="2926080" cy="804672"/>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16" name="Shape 13"/>
          <p:cNvSpPr/>
          <p:nvPr/>
        </p:nvSpPr>
        <p:spPr>
          <a:xfrm>
            <a:off x="5870448" y="2834640"/>
            <a:ext cx="64008" cy="804672"/>
          </a:xfrm>
          <a:prstGeom prst="rect">
            <a:avLst/>
          </a:prstGeom>
          <a:solidFill>
            <a:srgbClr val="1E90FF"/>
          </a:solidFill>
          <a:ln w="12700">
            <a:solidFill>
              <a:srgbClr val="1E90FF"/>
            </a:solidFill>
            <a:prstDash val="solid"/>
          </a:ln>
        </p:spPr>
      </p:sp>
      <p:sp>
        <p:nvSpPr>
          <p:cNvPr id="17" name="Text 14"/>
          <p:cNvSpPr/>
          <p:nvPr/>
        </p:nvSpPr>
        <p:spPr>
          <a:xfrm>
            <a:off x="6053328" y="2898648"/>
            <a:ext cx="2633472"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Participation Expansion</a:t>
            </a:r>
            <a:endParaRPr lang="en-US" sz="1100" dirty="0"/>
          </a:p>
        </p:txBody>
      </p:sp>
      <p:sp>
        <p:nvSpPr>
          <p:cNvPr id="18" name="Text 15"/>
          <p:cNvSpPr/>
          <p:nvPr/>
        </p:nvSpPr>
        <p:spPr>
          <a:xfrm>
            <a:off x="6053328" y="3172968"/>
            <a:ext cx="2633472" cy="402336"/>
          </a:xfrm>
          <a:prstGeom prst="rect">
            <a:avLst/>
          </a:prstGeom>
          <a:noFill/>
          <a:ln/>
        </p:spPr>
        <p:txBody>
          <a:bodyPr wrap="square" lIns="0" tIns="0" rIns="0" bIns="0" rtlCol="0" anchor="ctr"/>
          <a:lstStyle/>
          <a:p>
            <a:pPr indent="0" marL="0">
              <a:buNone/>
            </a:pPr>
            <a:r>
              <a:rPr lang="en-US" sz="980" dirty="0">
                <a:solidFill>
                  <a:srgbClr val="B8C5D6"/>
                </a:solidFill>
                <a:latin typeface="Calibri" pitchFamily="34" charset="0"/>
                <a:ea typeface="Calibri" pitchFamily="34" charset="-122"/>
                <a:cs typeface="Calibri" pitchFamily="34" charset="-120"/>
              </a:rPr>
              <a:t>New nations began competing post-1991 following Soviet dissolution — adding former Soviet republics as independent NPCs, which temporarily increased both participation and medal diversity.</a:t>
            </a:r>
            <a:endParaRPr lang="en-US" sz="980" dirty="0"/>
          </a:p>
        </p:txBody>
      </p:sp>
      <p:sp>
        <p:nvSpPr>
          <p:cNvPr id="19" name="Shape 16"/>
          <p:cNvSpPr/>
          <p:nvPr/>
        </p:nvSpPr>
        <p:spPr>
          <a:xfrm>
            <a:off x="5870448" y="3749040"/>
            <a:ext cx="2926080" cy="804672"/>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20" name="Shape 17"/>
          <p:cNvSpPr/>
          <p:nvPr/>
        </p:nvSpPr>
        <p:spPr>
          <a:xfrm>
            <a:off x="5870448" y="3749040"/>
            <a:ext cx="64008" cy="804672"/>
          </a:xfrm>
          <a:prstGeom prst="rect">
            <a:avLst/>
          </a:prstGeom>
          <a:solidFill>
            <a:srgbClr val="2DC653"/>
          </a:solidFill>
          <a:ln w="12700">
            <a:solidFill>
              <a:srgbClr val="2DC653"/>
            </a:solidFill>
            <a:prstDash val="solid"/>
          </a:ln>
        </p:spPr>
      </p:sp>
      <p:sp>
        <p:nvSpPr>
          <p:cNvPr id="21" name="Text 18"/>
          <p:cNvSpPr/>
          <p:nvPr/>
        </p:nvSpPr>
        <p:spPr>
          <a:xfrm>
            <a:off x="6053328" y="3813048"/>
            <a:ext cx="2633472"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Stability in Top Performers</a:t>
            </a:r>
            <a:endParaRPr lang="en-US" sz="1100" dirty="0"/>
          </a:p>
        </p:txBody>
      </p:sp>
      <p:sp>
        <p:nvSpPr>
          <p:cNvPr id="22" name="Text 19"/>
          <p:cNvSpPr/>
          <p:nvPr/>
        </p:nvSpPr>
        <p:spPr>
          <a:xfrm>
            <a:off x="6053328" y="4087368"/>
            <a:ext cx="2633472" cy="402336"/>
          </a:xfrm>
          <a:prstGeom prst="rect">
            <a:avLst/>
          </a:prstGeom>
          <a:noFill/>
          <a:ln/>
        </p:spPr>
        <p:txBody>
          <a:bodyPr wrap="square" lIns="0" tIns="0" rIns="0" bIns="0" rtlCol="0" anchor="ctr"/>
          <a:lstStyle/>
          <a:p>
            <a:pPr indent="0" marL="0">
              <a:buNone/>
            </a:pPr>
            <a:r>
              <a:rPr lang="en-US" sz="980" dirty="0">
                <a:solidFill>
                  <a:srgbClr val="B8C5D6"/>
                </a:solidFill>
                <a:latin typeface="Calibri" pitchFamily="34" charset="0"/>
                <a:ea typeface="Calibri" pitchFamily="34" charset="-122"/>
                <a:cs typeface="Calibri" pitchFamily="34" charset="-120"/>
              </a:rPr>
              <a:t>Despite changing participation, the top 5 nations remain largely constant across all decades — confirming that dominance is structural rather than cyclical.</a:t>
            </a:r>
            <a:endParaRPr lang="en-US" sz="9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D4AF37"/>
          </a:solidFill>
          <a:ln w="12700">
            <a:solidFill>
              <a:srgbClr val="D4AF37"/>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D4AF37"/>
                </a:solidFill>
                <a:latin typeface="Calibri" pitchFamily="34" charset="0"/>
                <a:ea typeface="Calibri" pitchFamily="34" charset="-122"/>
                <a:cs typeface="Calibri" pitchFamily="34" charset="-120"/>
              </a:rPr>
              <a:t>DASHBOARD  PAGE 6  —  Key Insights &amp; Conclusion</a:t>
            </a:r>
            <a:endParaRPr lang="en-US" sz="2700" dirty="0"/>
          </a:p>
        </p:txBody>
      </p:sp>
      <p:pic>
        <p:nvPicPr>
          <p:cNvPr id="5" name="Image 0" descr="/mnt/user-data/uploads/Screenshot_2026-03-16_013001.png">    </p:cNvPr>
          <p:cNvPicPr>
            <a:picLocks noChangeAspect="1"/>
          </p:cNvPicPr>
          <p:nvPr/>
        </p:nvPicPr>
        <p:blipFill>
          <a:blip r:embed="rId1"/>
          <a:stretch>
            <a:fillRect/>
          </a:stretch>
        </p:blipFill>
        <p:spPr>
          <a:xfrm>
            <a:off x="347472" y="1005840"/>
            <a:ext cx="5349240" cy="3794760"/>
          </a:xfrm>
          <a:prstGeom prst="rect">
            <a:avLst/>
          </a:prstGeom>
          <a:effectLst>
            <a:outerShdw sx="100000" sy="100000" kx="0" ky="0" algn="bl" rotWithShape="0" blurRad="101600" dist="38100" dir="8100000">
              <a:srgbClr val="000000">
                <a:alpha val="18000"/>
              </a:srgbClr>
            </a:outerShdw>
          </a:effectLst>
        </p:spPr>
      </p:pic>
      <p:sp>
        <p:nvSpPr>
          <p:cNvPr id="6" name="Shape 3"/>
          <p:cNvSpPr/>
          <p:nvPr/>
        </p:nvSpPr>
        <p:spPr>
          <a:xfrm>
            <a:off x="5870448" y="100584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5870448" y="1005840"/>
            <a:ext cx="64008" cy="868680"/>
          </a:xfrm>
          <a:prstGeom prst="rect">
            <a:avLst/>
          </a:prstGeom>
          <a:solidFill>
            <a:srgbClr val="D4AF37"/>
          </a:solidFill>
          <a:ln w="12700">
            <a:solidFill>
              <a:srgbClr val="D4AF37"/>
            </a:solidFill>
            <a:prstDash val="solid"/>
          </a:ln>
        </p:spPr>
      </p:sp>
      <p:sp>
        <p:nvSpPr>
          <p:cNvPr id="8" name="Text 5"/>
          <p:cNvSpPr/>
          <p:nvPr/>
        </p:nvSpPr>
        <p:spPr>
          <a:xfrm>
            <a:off x="6053328" y="107899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5 Key Findings</a:t>
            </a:r>
            <a:endParaRPr lang="en-US" sz="1150" dirty="0"/>
          </a:p>
        </p:txBody>
      </p:sp>
      <p:sp>
        <p:nvSpPr>
          <p:cNvPr id="9" name="Text 6"/>
          <p:cNvSpPr/>
          <p:nvPr/>
        </p:nvSpPr>
        <p:spPr>
          <a:xfrm>
            <a:off x="6053328" y="137160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Dashboard confirms: medal dominance by few nations; Summer/Winter gap; Athletics/Swimming lead; Europe/Americas hosting concentration; year-on-year medal variation.</a:t>
            </a:r>
            <a:endParaRPr lang="en-US" sz="1000" dirty="0"/>
          </a:p>
        </p:txBody>
      </p:sp>
      <p:sp>
        <p:nvSpPr>
          <p:cNvPr id="10" name="Shape 7"/>
          <p:cNvSpPr/>
          <p:nvPr/>
        </p:nvSpPr>
        <p:spPr>
          <a:xfrm>
            <a:off x="5870448" y="196596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5870448" y="1965960"/>
            <a:ext cx="64008" cy="868680"/>
          </a:xfrm>
          <a:prstGeom prst="rect">
            <a:avLst/>
          </a:prstGeom>
          <a:solidFill>
            <a:srgbClr val="D4AF37"/>
          </a:solidFill>
          <a:ln w="12700">
            <a:solidFill>
              <a:srgbClr val="D4AF37"/>
            </a:solidFill>
            <a:prstDash val="solid"/>
          </a:ln>
        </p:spPr>
      </p:sp>
      <p:sp>
        <p:nvSpPr>
          <p:cNvPr id="12" name="Text 9"/>
          <p:cNvSpPr/>
          <p:nvPr/>
        </p:nvSpPr>
        <p:spPr>
          <a:xfrm>
            <a:off x="6053328" y="203911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KPI Reinforcement</a:t>
            </a:r>
            <a:endParaRPr lang="en-US" sz="1150" dirty="0"/>
          </a:p>
        </p:txBody>
      </p:sp>
      <p:sp>
        <p:nvSpPr>
          <p:cNvPr id="13" name="Text 10"/>
          <p:cNvSpPr/>
          <p:nvPr/>
        </p:nvSpPr>
        <p:spPr>
          <a:xfrm>
            <a:off x="6053328" y="233172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16K total medals and 73 countries repeated as anchor KPIs to frame all five findings — reminding viewers of the scale of the analysis.</a:t>
            </a:r>
            <a:endParaRPr lang="en-US" sz="1000" dirty="0"/>
          </a:p>
        </p:txBody>
      </p:sp>
      <p:sp>
        <p:nvSpPr>
          <p:cNvPr id="14" name="Shape 11"/>
          <p:cNvSpPr/>
          <p:nvPr/>
        </p:nvSpPr>
        <p:spPr>
          <a:xfrm>
            <a:off x="5870448" y="292608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870448" y="2926080"/>
            <a:ext cx="64008" cy="868680"/>
          </a:xfrm>
          <a:prstGeom prst="rect">
            <a:avLst/>
          </a:prstGeom>
          <a:solidFill>
            <a:srgbClr val="D4AF37"/>
          </a:solidFill>
          <a:ln w="12700">
            <a:solidFill>
              <a:srgbClr val="D4AF37"/>
            </a:solidFill>
            <a:prstDash val="solid"/>
          </a:ln>
        </p:spPr>
      </p:sp>
      <p:sp>
        <p:nvSpPr>
          <p:cNvPr id="16" name="Text 13"/>
          <p:cNvSpPr/>
          <p:nvPr/>
        </p:nvSpPr>
        <p:spPr>
          <a:xfrm>
            <a:off x="6053328" y="299923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Top 5 Countries Chart</a:t>
            </a:r>
            <a:endParaRPr lang="en-US" sz="1150" dirty="0"/>
          </a:p>
        </p:txBody>
      </p:sp>
      <p:sp>
        <p:nvSpPr>
          <p:cNvPr id="17" name="Text 14"/>
          <p:cNvSpPr/>
          <p:nvPr/>
        </p:nvSpPr>
        <p:spPr>
          <a:xfrm>
            <a:off x="6053328" y="329184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Bar chart confirms USA (2K+) → Germany → UK → China → Canada in final rankings. Consistent with country performance page findings.</a:t>
            </a:r>
            <a:endParaRPr lang="en-US" sz="1000" dirty="0"/>
          </a:p>
        </p:txBody>
      </p:sp>
      <p:sp>
        <p:nvSpPr>
          <p:cNvPr id="18" name="Shape 15"/>
          <p:cNvSpPr/>
          <p:nvPr/>
        </p:nvSpPr>
        <p:spPr>
          <a:xfrm>
            <a:off x="5870448" y="3886200"/>
            <a:ext cx="2926080" cy="86868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9" name="Shape 16"/>
          <p:cNvSpPr/>
          <p:nvPr/>
        </p:nvSpPr>
        <p:spPr>
          <a:xfrm>
            <a:off x="5870448" y="3886200"/>
            <a:ext cx="64008" cy="868680"/>
          </a:xfrm>
          <a:prstGeom prst="rect">
            <a:avLst/>
          </a:prstGeom>
          <a:solidFill>
            <a:srgbClr val="D4AF37"/>
          </a:solidFill>
          <a:ln w="12700">
            <a:solidFill>
              <a:srgbClr val="D4AF37"/>
            </a:solidFill>
            <a:prstDash val="solid"/>
          </a:ln>
        </p:spPr>
      </p:sp>
      <p:sp>
        <p:nvSpPr>
          <p:cNvPr id="20" name="Text 17"/>
          <p:cNvSpPr/>
          <p:nvPr/>
        </p:nvSpPr>
        <p:spPr>
          <a:xfrm>
            <a:off x="6053328" y="3959352"/>
            <a:ext cx="2633472"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Conclusion Statement</a:t>
            </a:r>
            <a:endParaRPr lang="en-US" sz="1150" dirty="0"/>
          </a:p>
        </p:txBody>
      </p:sp>
      <p:sp>
        <p:nvSpPr>
          <p:cNvPr id="21" name="Text 18"/>
          <p:cNvSpPr/>
          <p:nvPr/>
        </p:nvSpPr>
        <p:spPr>
          <a:xfrm>
            <a:off x="6053328" y="4251960"/>
            <a:ext cx="2633472" cy="438912"/>
          </a:xfrm>
          <a:prstGeom prst="rect">
            <a:avLst/>
          </a:prstGeom>
          <a:noFill/>
          <a:ln/>
        </p:spPr>
        <p:txBody>
          <a:bodyPr wrap="square" lIns="0" tIns="0" rIns="0" bIns="0" rtlCol="0" anchor="ctr"/>
          <a:lstStyle/>
          <a:p>
            <a:pPr indent="0" marL="0">
              <a:buNone/>
            </a:pPr>
            <a:r>
              <a:rPr lang="en-US" sz="1000" dirty="0">
                <a:solidFill>
                  <a:srgbClr val="B8C5D6"/>
                </a:solidFill>
                <a:latin typeface="Calibri" pitchFamily="34" charset="0"/>
                <a:ea typeface="Calibri" pitchFamily="34" charset="-122"/>
                <a:cs typeface="Calibri" pitchFamily="34" charset="-120"/>
              </a:rPr>
              <a:t>Dashboard provides comprehensive analysis of Olympic performance across countries, sports, and locations — explicitly connecting the visualisation to decision-support value.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2DC653"/>
          </a:solidFill>
          <a:ln w="12700">
            <a:solidFill>
              <a:srgbClr val="2DC653"/>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2DC653"/>
                </a:solidFill>
                <a:latin typeface="Calibri" pitchFamily="34" charset="0"/>
                <a:ea typeface="Calibri" pitchFamily="34" charset="-122"/>
                <a:cs typeface="Calibri" pitchFamily="34" charset="-120"/>
              </a:rPr>
              <a:t>DATA-DRIVEN RECOMMENDATIONS</a:t>
            </a:r>
            <a:endParaRPr lang="en-US" sz="2700" dirty="0"/>
          </a:p>
        </p:txBody>
      </p:sp>
      <p:sp>
        <p:nvSpPr>
          <p:cNvPr id="5" name="Shape 3"/>
          <p:cNvSpPr/>
          <p:nvPr/>
        </p:nvSpPr>
        <p:spPr>
          <a:xfrm>
            <a:off x="347472" y="1005840"/>
            <a:ext cx="8458200" cy="914400"/>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65760" y="1188720"/>
            <a:ext cx="566928" cy="566928"/>
          </a:xfrm>
          <a:prstGeom prst="ellipse">
            <a:avLst/>
          </a:prstGeom>
          <a:solidFill>
            <a:srgbClr val="2DC653"/>
          </a:solidFill>
          <a:ln w="12700">
            <a:solidFill>
              <a:srgbClr val="2DC653"/>
            </a:solidFill>
            <a:prstDash val="solid"/>
          </a:ln>
        </p:spPr>
      </p:sp>
      <p:sp>
        <p:nvSpPr>
          <p:cNvPr id="7" name="Text 5"/>
          <p:cNvSpPr/>
          <p:nvPr/>
        </p:nvSpPr>
        <p:spPr>
          <a:xfrm>
            <a:off x="365760" y="1188720"/>
            <a:ext cx="566928" cy="566928"/>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97280" y="1097280"/>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Invest in High-Medal Sports</a:t>
            </a:r>
            <a:endParaRPr lang="en-US" sz="1300" dirty="0"/>
          </a:p>
        </p:txBody>
      </p:sp>
      <p:sp>
        <p:nvSpPr>
          <p:cNvPr id="9" name="Shape 7"/>
          <p:cNvSpPr/>
          <p:nvPr/>
        </p:nvSpPr>
        <p:spPr>
          <a:xfrm>
            <a:off x="6217920" y="1097280"/>
            <a:ext cx="2468880" cy="274320"/>
          </a:xfrm>
          <a:prstGeom prst="rect">
            <a:avLst/>
          </a:prstGeom>
          <a:solidFill>
            <a:srgbClr val="2DC653"/>
          </a:solidFill>
          <a:ln w="12700">
            <a:solidFill>
              <a:srgbClr val="2DC653"/>
            </a:solidFill>
            <a:prstDash val="solid"/>
          </a:ln>
        </p:spPr>
      </p:sp>
      <p:sp>
        <p:nvSpPr>
          <p:cNvPr id="10" name="Text 8"/>
          <p:cNvSpPr/>
          <p:nvPr/>
        </p:nvSpPr>
        <p:spPr>
          <a:xfrm>
            <a:off x="6217920" y="1097280"/>
            <a:ext cx="2468880" cy="274320"/>
          </a:xfrm>
          <a:prstGeom prst="rect">
            <a:avLst/>
          </a:prstGeom>
          <a:noFill/>
          <a:ln/>
        </p:spPr>
        <p:txBody>
          <a:bodyPr wrap="square" lIns="0" tIns="0" rIns="0" bIns="0" rtlCol="0" anchor="ctr"/>
          <a:lstStyle/>
          <a:p>
            <a:pPr algn="ctr" indent="0" marL="0">
              <a:buNone/>
            </a:pPr>
            <a:r>
              <a:rPr lang="en-US" sz="950" b="1" dirty="0">
                <a:solidFill>
                  <a:srgbClr val="060D1F"/>
                </a:solidFill>
                <a:latin typeface="Calibri" pitchFamily="34" charset="0"/>
                <a:ea typeface="Calibri" pitchFamily="34" charset="-122"/>
                <a:cs typeface="Calibri" pitchFamily="34" charset="-120"/>
              </a:rPr>
              <a:t>National Olympic Committees</a:t>
            </a:r>
            <a:endParaRPr lang="en-US" sz="950" dirty="0"/>
          </a:p>
        </p:txBody>
      </p:sp>
      <p:sp>
        <p:nvSpPr>
          <p:cNvPr id="11" name="Text 9"/>
          <p:cNvSpPr/>
          <p:nvPr/>
        </p:nvSpPr>
        <p:spPr>
          <a:xfrm>
            <a:off x="1097280" y="1435608"/>
            <a:ext cx="7589520" cy="411480"/>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Countries seeking to improve overall medal rankings should concentrate resources on Athletics and Swimming — the two disciplines that generate the most medals. A national academy focused on these sports offers the highest return on sports investment.</a:t>
            </a:r>
            <a:endParaRPr lang="en-US" sz="1050" dirty="0"/>
          </a:p>
        </p:txBody>
      </p:sp>
      <p:sp>
        <p:nvSpPr>
          <p:cNvPr id="12" name="Shape 10"/>
          <p:cNvSpPr/>
          <p:nvPr/>
        </p:nvSpPr>
        <p:spPr>
          <a:xfrm>
            <a:off x="347472" y="2029968"/>
            <a:ext cx="8458200" cy="914400"/>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65760" y="2212848"/>
            <a:ext cx="566928" cy="566928"/>
          </a:xfrm>
          <a:prstGeom prst="ellipse">
            <a:avLst/>
          </a:prstGeom>
          <a:solidFill>
            <a:srgbClr val="D4AF37"/>
          </a:solidFill>
          <a:ln w="12700">
            <a:solidFill>
              <a:srgbClr val="D4AF37"/>
            </a:solidFill>
            <a:prstDash val="solid"/>
          </a:ln>
        </p:spPr>
      </p:sp>
      <p:sp>
        <p:nvSpPr>
          <p:cNvPr id="14" name="Text 12"/>
          <p:cNvSpPr/>
          <p:nvPr/>
        </p:nvSpPr>
        <p:spPr>
          <a:xfrm>
            <a:off x="365760" y="2212848"/>
            <a:ext cx="566928" cy="566928"/>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097280" y="2121408"/>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Emerging Nations: Target Niche Sports</a:t>
            </a:r>
            <a:endParaRPr lang="en-US" sz="1300" dirty="0"/>
          </a:p>
        </p:txBody>
      </p:sp>
      <p:sp>
        <p:nvSpPr>
          <p:cNvPr id="16" name="Shape 14"/>
          <p:cNvSpPr/>
          <p:nvPr/>
        </p:nvSpPr>
        <p:spPr>
          <a:xfrm>
            <a:off x="6217920" y="2121408"/>
            <a:ext cx="2468880" cy="274320"/>
          </a:xfrm>
          <a:prstGeom prst="rect">
            <a:avLst/>
          </a:prstGeom>
          <a:solidFill>
            <a:srgbClr val="D4AF37"/>
          </a:solidFill>
          <a:ln w="12700">
            <a:solidFill>
              <a:srgbClr val="D4AF37"/>
            </a:solidFill>
            <a:prstDash val="solid"/>
          </a:ln>
        </p:spPr>
      </p:sp>
      <p:sp>
        <p:nvSpPr>
          <p:cNvPr id="17" name="Text 15"/>
          <p:cNvSpPr/>
          <p:nvPr/>
        </p:nvSpPr>
        <p:spPr>
          <a:xfrm>
            <a:off x="6217920" y="2121408"/>
            <a:ext cx="2468880" cy="274320"/>
          </a:xfrm>
          <a:prstGeom prst="rect">
            <a:avLst/>
          </a:prstGeom>
          <a:noFill/>
          <a:ln/>
        </p:spPr>
        <p:txBody>
          <a:bodyPr wrap="square" lIns="0" tIns="0" rIns="0" bIns="0" rtlCol="0" anchor="ctr"/>
          <a:lstStyle/>
          <a:p>
            <a:pPr algn="ctr" indent="0" marL="0">
              <a:buNone/>
            </a:pPr>
            <a:r>
              <a:rPr lang="en-US" sz="950" b="1" dirty="0">
                <a:solidFill>
                  <a:srgbClr val="060D1F"/>
                </a:solidFill>
                <a:latin typeface="Calibri" pitchFamily="34" charset="0"/>
                <a:ea typeface="Calibri" pitchFamily="34" charset="-122"/>
                <a:cs typeface="Calibri" pitchFamily="34" charset="-120"/>
              </a:rPr>
              <a:t>Developing Nation Sports Bodies</a:t>
            </a:r>
            <a:endParaRPr lang="en-US" sz="950" dirty="0"/>
          </a:p>
        </p:txBody>
      </p:sp>
      <p:sp>
        <p:nvSpPr>
          <p:cNvPr id="18" name="Text 16"/>
          <p:cNvSpPr/>
          <p:nvPr/>
        </p:nvSpPr>
        <p:spPr>
          <a:xfrm>
            <a:off x="1097280" y="2459736"/>
            <a:ext cx="7589520" cy="411480"/>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Nations with limited budgets should identify lower-competition sports (Table Tennis, Shooting, Archery) where fewer competitors and lower infrastructure costs improve medal probability. Data shows several sub-4K-medal sports with high win rates for developing nations.</a:t>
            </a:r>
            <a:endParaRPr lang="en-US" sz="1050" dirty="0"/>
          </a:p>
        </p:txBody>
      </p:sp>
      <p:sp>
        <p:nvSpPr>
          <p:cNvPr id="19" name="Shape 17"/>
          <p:cNvSpPr/>
          <p:nvPr/>
        </p:nvSpPr>
        <p:spPr>
          <a:xfrm>
            <a:off x="347472" y="3054096"/>
            <a:ext cx="8458200" cy="914400"/>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365760" y="3236976"/>
            <a:ext cx="566928" cy="566928"/>
          </a:xfrm>
          <a:prstGeom prst="ellipse">
            <a:avLst/>
          </a:prstGeom>
          <a:solidFill>
            <a:srgbClr val="1E90FF"/>
          </a:solidFill>
          <a:ln w="12700">
            <a:solidFill>
              <a:srgbClr val="1E90FF"/>
            </a:solidFill>
            <a:prstDash val="solid"/>
          </a:ln>
        </p:spPr>
      </p:sp>
      <p:sp>
        <p:nvSpPr>
          <p:cNvPr id="21" name="Text 19"/>
          <p:cNvSpPr/>
          <p:nvPr/>
        </p:nvSpPr>
        <p:spPr>
          <a:xfrm>
            <a:off x="365760" y="3236976"/>
            <a:ext cx="566928" cy="566928"/>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1097280" y="3145536"/>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Expand Olympic Hosting Opportunities</a:t>
            </a:r>
            <a:endParaRPr lang="en-US" sz="1300" dirty="0"/>
          </a:p>
        </p:txBody>
      </p:sp>
      <p:sp>
        <p:nvSpPr>
          <p:cNvPr id="23" name="Shape 21"/>
          <p:cNvSpPr/>
          <p:nvPr/>
        </p:nvSpPr>
        <p:spPr>
          <a:xfrm>
            <a:off x="6217920" y="3145536"/>
            <a:ext cx="2468880" cy="274320"/>
          </a:xfrm>
          <a:prstGeom prst="rect">
            <a:avLst/>
          </a:prstGeom>
          <a:solidFill>
            <a:srgbClr val="1E90FF"/>
          </a:solidFill>
          <a:ln w="12700">
            <a:solidFill>
              <a:srgbClr val="1E90FF"/>
            </a:solidFill>
            <a:prstDash val="solid"/>
          </a:ln>
        </p:spPr>
      </p:sp>
      <p:sp>
        <p:nvSpPr>
          <p:cNvPr id="24" name="Text 22"/>
          <p:cNvSpPr/>
          <p:nvPr/>
        </p:nvSpPr>
        <p:spPr>
          <a:xfrm>
            <a:off x="6217920" y="3145536"/>
            <a:ext cx="2468880" cy="274320"/>
          </a:xfrm>
          <a:prstGeom prst="rect">
            <a:avLst/>
          </a:prstGeom>
          <a:noFill/>
          <a:ln/>
        </p:spPr>
        <p:txBody>
          <a:bodyPr wrap="square" lIns="0" tIns="0" rIns="0" bIns="0" rtlCol="0" anchor="ctr"/>
          <a:lstStyle/>
          <a:p>
            <a:pPr algn="ctr" indent="0" marL="0">
              <a:buNone/>
            </a:pPr>
            <a:r>
              <a:rPr lang="en-US" sz="950" b="1" dirty="0">
                <a:solidFill>
                  <a:srgbClr val="060D1F"/>
                </a:solidFill>
                <a:latin typeface="Calibri" pitchFamily="34" charset="0"/>
                <a:ea typeface="Calibri" pitchFamily="34" charset="-122"/>
                <a:cs typeface="Calibri" pitchFamily="34" charset="-120"/>
              </a:rPr>
              <a:t>IOC &amp; Regional Committees</a:t>
            </a:r>
            <a:endParaRPr lang="en-US" sz="950" dirty="0"/>
          </a:p>
        </p:txBody>
      </p:sp>
      <p:sp>
        <p:nvSpPr>
          <p:cNvPr id="25" name="Text 23"/>
          <p:cNvSpPr/>
          <p:nvPr/>
        </p:nvSpPr>
        <p:spPr>
          <a:xfrm>
            <a:off x="1097280" y="3483864"/>
            <a:ext cx="7589520" cy="411480"/>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The IOC should actively develop an African hosting roadmap. Hosting has a proven positive impact on domestic sports participation, infrastructure, and medal performance. Africa's zero-hosting record represents the single largest equity gap in the dataset.</a:t>
            </a:r>
            <a:endParaRPr lang="en-US" sz="1050" dirty="0"/>
          </a:p>
        </p:txBody>
      </p:sp>
      <p:sp>
        <p:nvSpPr>
          <p:cNvPr id="26" name="Shape 24"/>
          <p:cNvSpPr/>
          <p:nvPr/>
        </p:nvSpPr>
        <p:spPr>
          <a:xfrm>
            <a:off x="347472" y="4078224"/>
            <a:ext cx="8458200" cy="914400"/>
          </a:xfrm>
          <a:prstGeom prst="rect">
            <a:avLst/>
          </a:prstGeom>
          <a:solidFill>
            <a:srgbClr val="152B50"/>
          </a:solidFill>
          <a:ln w="15240">
            <a:solidFill>
              <a:srgbClr val="00B4D8"/>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365760" y="4261104"/>
            <a:ext cx="566928" cy="566928"/>
          </a:xfrm>
          <a:prstGeom prst="ellipse">
            <a:avLst/>
          </a:prstGeom>
          <a:solidFill>
            <a:srgbClr val="00B4D8"/>
          </a:solidFill>
          <a:ln w="12700">
            <a:solidFill>
              <a:srgbClr val="00B4D8"/>
            </a:solidFill>
            <a:prstDash val="solid"/>
          </a:ln>
        </p:spPr>
      </p:sp>
      <p:sp>
        <p:nvSpPr>
          <p:cNvPr id="28" name="Text 26"/>
          <p:cNvSpPr/>
          <p:nvPr/>
        </p:nvSpPr>
        <p:spPr>
          <a:xfrm>
            <a:off x="365760" y="4261104"/>
            <a:ext cx="566928" cy="566928"/>
          </a:xfrm>
          <a:prstGeom prst="rect">
            <a:avLst/>
          </a:prstGeom>
          <a:noFill/>
          <a:ln/>
        </p:spPr>
        <p:txBody>
          <a:bodyPr wrap="square" lIns="0" tIns="0" rIns="0" bIns="0" rtlCol="0" anchor="ctr"/>
          <a:lstStyle/>
          <a:p>
            <a:pPr algn="ctr" indent="0" marL="0">
              <a:buNone/>
            </a:pPr>
            <a:r>
              <a:rPr lang="en-US" sz="1600" b="1" dirty="0">
                <a:solidFill>
                  <a:srgbClr val="060D1F"/>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1097280" y="4169664"/>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 Data Analytics for Sports Policy</a:t>
            </a:r>
            <a:endParaRPr lang="en-US" sz="1300" dirty="0"/>
          </a:p>
        </p:txBody>
      </p:sp>
      <p:sp>
        <p:nvSpPr>
          <p:cNvPr id="30" name="Shape 28"/>
          <p:cNvSpPr/>
          <p:nvPr/>
        </p:nvSpPr>
        <p:spPr>
          <a:xfrm>
            <a:off x="6217920" y="4169664"/>
            <a:ext cx="2468880" cy="274320"/>
          </a:xfrm>
          <a:prstGeom prst="rect">
            <a:avLst/>
          </a:prstGeom>
          <a:solidFill>
            <a:srgbClr val="00B4D8"/>
          </a:solidFill>
          <a:ln w="12700">
            <a:solidFill>
              <a:srgbClr val="00B4D8"/>
            </a:solidFill>
            <a:prstDash val="solid"/>
          </a:ln>
        </p:spPr>
      </p:sp>
      <p:sp>
        <p:nvSpPr>
          <p:cNvPr id="31" name="Text 29"/>
          <p:cNvSpPr/>
          <p:nvPr/>
        </p:nvSpPr>
        <p:spPr>
          <a:xfrm>
            <a:off x="6217920" y="4169664"/>
            <a:ext cx="2468880" cy="274320"/>
          </a:xfrm>
          <a:prstGeom prst="rect">
            <a:avLst/>
          </a:prstGeom>
          <a:noFill/>
          <a:ln/>
        </p:spPr>
        <p:txBody>
          <a:bodyPr wrap="square" lIns="0" tIns="0" rIns="0" bIns="0" rtlCol="0" anchor="ctr"/>
          <a:lstStyle/>
          <a:p>
            <a:pPr algn="ctr" indent="0" marL="0">
              <a:buNone/>
            </a:pPr>
            <a:r>
              <a:rPr lang="en-US" sz="950" b="1" dirty="0">
                <a:solidFill>
                  <a:srgbClr val="060D1F"/>
                </a:solidFill>
                <a:latin typeface="Calibri" pitchFamily="34" charset="0"/>
                <a:ea typeface="Calibri" pitchFamily="34" charset="-122"/>
                <a:cs typeface="Calibri" pitchFamily="34" charset="-120"/>
              </a:rPr>
              <a:t>IOC &amp; Sports Governance Bodies</a:t>
            </a:r>
            <a:endParaRPr lang="en-US" sz="950" dirty="0"/>
          </a:p>
        </p:txBody>
      </p:sp>
      <p:sp>
        <p:nvSpPr>
          <p:cNvPr id="32" name="Text 30"/>
          <p:cNvSpPr/>
          <p:nvPr/>
        </p:nvSpPr>
        <p:spPr>
          <a:xfrm>
            <a:off x="1097280" y="4507992"/>
            <a:ext cx="7589520" cy="411480"/>
          </a:xfrm>
          <a:prstGeom prst="rect">
            <a:avLst/>
          </a:prstGeom>
          <a:noFill/>
          <a:ln/>
        </p:spPr>
        <p:txBody>
          <a:bodyPr wrap="square" lIns="0" tIns="0" rIns="0" bIns="0" rtlCol="0" anchor="ctr"/>
          <a:lstStyle/>
          <a:p>
            <a:pPr indent="0" marL="0">
              <a:buNone/>
            </a:pPr>
            <a:r>
              <a:rPr lang="en-US" sz="1050" dirty="0">
                <a:solidFill>
                  <a:srgbClr val="B8C5D6"/>
                </a:solidFill>
                <a:latin typeface="Calibri" pitchFamily="34" charset="0"/>
                <a:ea typeface="Calibri" pitchFamily="34" charset="-122"/>
                <a:cs typeface="Calibri" pitchFamily="34" charset="-120"/>
              </a:rPr>
              <a:t>This Power BI dashboard demonstrates that historical Olympic data can drive forward-looking policy decisions. IOC committees should adopt interactive dashboards as standard tools for sport programme reviews, funding allocation, and host city selection.</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D1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0"/>
          </a:solidFill>
          <a:ln w="12700">
            <a:solidFill>
              <a:srgbClr val="0F2040"/>
            </a:solidFill>
            <a:prstDash val="solid"/>
          </a:ln>
        </p:spPr>
      </p:sp>
      <p:sp>
        <p:nvSpPr>
          <p:cNvPr id="3" name="Shape 1"/>
          <p:cNvSpPr/>
          <p:nvPr/>
        </p:nvSpPr>
        <p:spPr>
          <a:xfrm>
            <a:off x="0" y="0"/>
            <a:ext cx="118872" cy="914400"/>
          </a:xfrm>
          <a:prstGeom prst="rect">
            <a:avLst/>
          </a:prstGeom>
          <a:solidFill>
            <a:srgbClr val="D4AF37"/>
          </a:solidFill>
          <a:ln w="12700">
            <a:solidFill>
              <a:srgbClr val="D4AF37"/>
            </a:solidFill>
            <a:prstDash val="solid"/>
          </a:ln>
        </p:spPr>
      </p:sp>
      <p:sp>
        <p:nvSpPr>
          <p:cNvPr id="4" name="Text 2"/>
          <p:cNvSpPr/>
          <p:nvPr/>
        </p:nvSpPr>
        <p:spPr>
          <a:xfrm>
            <a:off x="347472" y="0"/>
            <a:ext cx="8595360" cy="914400"/>
          </a:xfrm>
          <a:prstGeom prst="rect">
            <a:avLst/>
          </a:prstGeom>
          <a:noFill/>
          <a:ln/>
        </p:spPr>
        <p:txBody>
          <a:bodyPr wrap="square" lIns="0" tIns="0" rIns="0" bIns="0" rtlCol="0" anchor="ctr"/>
          <a:lstStyle/>
          <a:p>
            <a:pPr indent="0" marL="0">
              <a:buNone/>
            </a:pPr>
            <a:r>
              <a:rPr lang="en-US" sz="2700" b="1" dirty="0">
                <a:solidFill>
                  <a:srgbClr val="D4AF37"/>
                </a:solidFill>
                <a:latin typeface="Calibri" pitchFamily="34" charset="0"/>
                <a:ea typeface="Calibri" pitchFamily="34" charset="-122"/>
                <a:cs typeface="Calibri" pitchFamily="34" charset="-120"/>
              </a:rPr>
              <a:t>CONCLUSION &amp; PROJECT IMPACT</a:t>
            </a:r>
            <a:endParaRPr lang="en-US" sz="2700" dirty="0"/>
          </a:p>
        </p:txBody>
      </p:sp>
      <p:sp>
        <p:nvSpPr>
          <p:cNvPr id="5" name="Shape 3"/>
          <p:cNvSpPr/>
          <p:nvPr/>
        </p:nvSpPr>
        <p:spPr>
          <a:xfrm>
            <a:off x="347472" y="987552"/>
            <a:ext cx="8458200" cy="1115568"/>
          </a:xfrm>
          <a:prstGeom prst="rect">
            <a:avLst/>
          </a:prstGeom>
          <a:solidFill>
            <a:srgbClr val="152B50"/>
          </a:solidFill>
          <a:ln w="15240">
            <a:solidFill>
              <a:srgbClr val="D4AF37"/>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530352" y="1024128"/>
            <a:ext cx="8229600" cy="105156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This project demonstrates that Olympic Games data, when analysed through a well-structured Power BI dashboard, can surface meaningful patterns, identify equity gaps, and generate strategic recommendations — transforming historical records into a genuine decision-support tool.</a:t>
            </a:r>
            <a:endParaRPr lang="en-US" sz="1250" dirty="0"/>
          </a:p>
        </p:txBody>
      </p:sp>
      <p:sp>
        <p:nvSpPr>
          <p:cNvPr id="7" name="Shape 5"/>
          <p:cNvSpPr/>
          <p:nvPr/>
        </p:nvSpPr>
        <p:spPr>
          <a:xfrm>
            <a:off x="347472" y="2267712"/>
            <a:ext cx="2697480" cy="2633472"/>
          </a:xfrm>
          <a:prstGeom prst="rect">
            <a:avLst/>
          </a:prstGeom>
          <a:solidFill>
            <a:srgbClr val="152B50"/>
          </a:solidFill>
          <a:ln w="15240">
            <a:solidFill>
              <a:srgbClr val="E63946"/>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47472" y="2267712"/>
            <a:ext cx="2697480" cy="402336"/>
          </a:xfrm>
          <a:prstGeom prst="rect">
            <a:avLst/>
          </a:prstGeom>
          <a:solidFill>
            <a:srgbClr val="E63946"/>
          </a:solidFill>
          <a:ln w="12700">
            <a:solidFill>
              <a:srgbClr val="E63946"/>
            </a:solidFill>
            <a:prstDash val="solid"/>
          </a:ln>
        </p:spPr>
      </p:sp>
      <p:sp>
        <p:nvSpPr>
          <p:cNvPr id="9" name="Text 7"/>
          <p:cNvSpPr/>
          <p:nvPr/>
        </p:nvSpPr>
        <p:spPr>
          <a:xfrm>
            <a:off x="347472" y="2267712"/>
            <a:ext cx="2697480" cy="402336"/>
          </a:xfrm>
          <a:prstGeom prst="rect">
            <a:avLst/>
          </a:prstGeom>
          <a:noFill/>
          <a:ln/>
        </p:spPr>
        <p:txBody>
          <a:bodyPr wrap="square" lIns="0" tIns="0" rIns="0" bIns="0" rtlCol="0" anchor="ctr"/>
          <a:lstStyle/>
          <a:p>
            <a:pPr algn="ctr" indent="0" marL="0">
              <a:buNone/>
            </a:pPr>
            <a:r>
              <a:rPr lang="en-US" sz="1200" b="1" dirty="0">
                <a:solidFill>
                  <a:srgbClr val="060D1F"/>
                </a:solidFill>
                <a:latin typeface="Calibri" pitchFamily="34" charset="0"/>
                <a:ea typeface="Calibri" pitchFamily="34" charset="-122"/>
                <a:cs typeface="Calibri" pitchFamily="34" charset="-120"/>
              </a:rPr>
              <a:t>3 Problems Identified</a:t>
            </a:r>
            <a:endParaRPr lang="en-US" sz="1200" dirty="0"/>
          </a:p>
        </p:txBody>
      </p:sp>
      <p:sp>
        <p:nvSpPr>
          <p:cNvPr id="10" name="Text 8"/>
          <p:cNvSpPr/>
          <p:nvPr/>
        </p:nvSpPr>
        <p:spPr>
          <a:xfrm>
            <a:off x="457200" y="276148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Medal concentration: top 5 nations = 40%+ of medals</a:t>
            </a:r>
            <a:endParaRPr lang="en-US" sz="1050" dirty="0"/>
          </a:p>
        </p:txBody>
      </p:sp>
      <p:sp>
        <p:nvSpPr>
          <p:cNvPr id="11" name="Text 9"/>
          <p:cNvSpPr/>
          <p:nvPr/>
        </p:nvSpPr>
        <p:spPr>
          <a:xfrm>
            <a:off x="457200" y="326440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Sport imbalance: 2 sports generate ~23% of all medals</a:t>
            </a:r>
            <a:endParaRPr lang="en-US" sz="1050" dirty="0"/>
          </a:p>
        </p:txBody>
      </p:sp>
      <p:sp>
        <p:nvSpPr>
          <p:cNvPr id="12" name="Text 10"/>
          <p:cNvSpPr/>
          <p:nvPr/>
        </p:nvSpPr>
        <p:spPr>
          <a:xfrm>
            <a:off x="457200" y="376732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Hosting exclusion: Africa has never hosted Olympic Games</a:t>
            </a:r>
            <a:endParaRPr lang="en-US" sz="1050" dirty="0"/>
          </a:p>
        </p:txBody>
      </p:sp>
      <p:sp>
        <p:nvSpPr>
          <p:cNvPr id="13" name="Shape 11"/>
          <p:cNvSpPr/>
          <p:nvPr/>
        </p:nvSpPr>
        <p:spPr>
          <a:xfrm>
            <a:off x="3227832" y="2267712"/>
            <a:ext cx="2697480" cy="2633472"/>
          </a:xfrm>
          <a:prstGeom prst="rect">
            <a:avLst/>
          </a:prstGeom>
          <a:solidFill>
            <a:srgbClr val="152B50"/>
          </a:solidFill>
          <a:ln w="15240">
            <a:solidFill>
              <a:srgbClr val="2DC653"/>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3227832" y="2267712"/>
            <a:ext cx="2697480" cy="402336"/>
          </a:xfrm>
          <a:prstGeom prst="rect">
            <a:avLst/>
          </a:prstGeom>
          <a:solidFill>
            <a:srgbClr val="2DC653"/>
          </a:solidFill>
          <a:ln w="12700">
            <a:solidFill>
              <a:srgbClr val="2DC653"/>
            </a:solidFill>
            <a:prstDash val="solid"/>
          </a:ln>
        </p:spPr>
      </p:sp>
      <p:sp>
        <p:nvSpPr>
          <p:cNvPr id="15" name="Text 13"/>
          <p:cNvSpPr/>
          <p:nvPr/>
        </p:nvSpPr>
        <p:spPr>
          <a:xfrm>
            <a:off x="3227832" y="2267712"/>
            <a:ext cx="2697480" cy="402336"/>
          </a:xfrm>
          <a:prstGeom prst="rect">
            <a:avLst/>
          </a:prstGeom>
          <a:noFill/>
          <a:ln/>
        </p:spPr>
        <p:txBody>
          <a:bodyPr wrap="square" lIns="0" tIns="0" rIns="0" bIns="0" rtlCol="0" anchor="ctr"/>
          <a:lstStyle/>
          <a:p>
            <a:pPr algn="ctr" indent="0" marL="0">
              <a:buNone/>
            </a:pPr>
            <a:r>
              <a:rPr lang="en-US" sz="1200" b="1" dirty="0">
                <a:solidFill>
                  <a:srgbClr val="060D1F"/>
                </a:solidFill>
                <a:latin typeface="Calibri" pitchFamily="34" charset="0"/>
                <a:ea typeface="Calibri" pitchFamily="34" charset="-122"/>
                <a:cs typeface="Calibri" pitchFamily="34" charset="-120"/>
              </a:rPr>
              <a:t>4 Recommendations</a:t>
            </a:r>
            <a:endParaRPr lang="en-US" sz="1200" dirty="0"/>
          </a:p>
        </p:txBody>
      </p:sp>
      <p:sp>
        <p:nvSpPr>
          <p:cNvPr id="16" name="Text 14"/>
          <p:cNvSpPr/>
          <p:nvPr/>
        </p:nvSpPr>
        <p:spPr>
          <a:xfrm>
            <a:off x="3337560" y="276148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Invest in high-medal sports (Athletics, Swimming)</a:t>
            </a:r>
            <a:endParaRPr lang="en-US" sz="1050" dirty="0"/>
          </a:p>
        </p:txBody>
      </p:sp>
      <p:sp>
        <p:nvSpPr>
          <p:cNvPr id="17" name="Text 15"/>
          <p:cNvSpPr/>
          <p:nvPr/>
        </p:nvSpPr>
        <p:spPr>
          <a:xfrm>
            <a:off x="3337560" y="326440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Emerging nations: target niche disciplines strategically</a:t>
            </a:r>
            <a:endParaRPr lang="en-US" sz="1050" dirty="0"/>
          </a:p>
        </p:txBody>
      </p:sp>
      <p:sp>
        <p:nvSpPr>
          <p:cNvPr id="18" name="Text 16"/>
          <p:cNvSpPr/>
          <p:nvPr/>
        </p:nvSpPr>
        <p:spPr>
          <a:xfrm>
            <a:off x="3337560" y="376732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Expand hosting rights to underrepresented continents</a:t>
            </a:r>
            <a:endParaRPr lang="en-US" sz="1050" dirty="0"/>
          </a:p>
        </p:txBody>
      </p:sp>
      <p:sp>
        <p:nvSpPr>
          <p:cNvPr id="19" name="Text 17"/>
          <p:cNvSpPr/>
          <p:nvPr/>
        </p:nvSpPr>
        <p:spPr>
          <a:xfrm>
            <a:off x="3337560" y="427024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Adopt Power BI dashboards for sports policy decisions</a:t>
            </a:r>
            <a:endParaRPr lang="en-US" sz="1050" dirty="0"/>
          </a:p>
        </p:txBody>
      </p:sp>
      <p:sp>
        <p:nvSpPr>
          <p:cNvPr id="20" name="Shape 18"/>
          <p:cNvSpPr/>
          <p:nvPr/>
        </p:nvSpPr>
        <p:spPr>
          <a:xfrm>
            <a:off x="6108192" y="2267712"/>
            <a:ext cx="2697480" cy="2633472"/>
          </a:xfrm>
          <a:prstGeom prst="rect">
            <a:avLst/>
          </a:prstGeom>
          <a:solidFill>
            <a:srgbClr val="152B50"/>
          </a:solidFill>
          <a:ln w="15240">
            <a:solidFill>
              <a:srgbClr val="1E90FF"/>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6108192" y="2267712"/>
            <a:ext cx="2697480" cy="402336"/>
          </a:xfrm>
          <a:prstGeom prst="rect">
            <a:avLst/>
          </a:prstGeom>
          <a:solidFill>
            <a:srgbClr val="1E90FF"/>
          </a:solidFill>
          <a:ln w="12700">
            <a:solidFill>
              <a:srgbClr val="1E90FF"/>
            </a:solidFill>
            <a:prstDash val="solid"/>
          </a:ln>
        </p:spPr>
      </p:sp>
      <p:sp>
        <p:nvSpPr>
          <p:cNvPr id="22" name="Text 20"/>
          <p:cNvSpPr/>
          <p:nvPr/>
        </p:nvSpPr>
        <p:spPr>
          <a:xfrm>
            <a:off x="6108192" y="2267712"/>
            <a:ext cx="2697480" cy="402336"/>
          </a:xfrm>
          <a:prstGeom prst="rect">
            <a:avLst/>
          </a:prstGeom>
          <a:noFill/>
          <a:ln/>
        </p:spPr>
        <p:txBody>
          <a:bodyPr wrap="square" lIns="0" tIns="0" rIns="0" bIns="0" rtlCol="0" anchor="ctr"/>
          <a:lstStyle/>
          <a:p>
            <a:pPr algn="ctr" indent="0" marL="0">
              <a:buNone/>
            </a:pPr>
            <a:r>
              <a:rPr lang="en-US" sz="1200" b="1" dirty="0">
                <a:solidFill>
                  <a:srgbClr val="060D1F"/>
                </a:solidFill>
                <a:latin typeface="Calibri" pitchFamily="34" charset="0"/>
                <a:ea typeface="Calibri" pitchFamily="34" charset="-122"/>
                <a:cs typeface="Calibri" pitchFamily="34" charset="-120"/>
              </a:rPr>
              <a:t>6 Dashboard Pages</a:t>
            </a:r>
            <a:endParaRPr lang="en-US" sz="1200" dirty="0"/>
          </a:p>
        </p:txBody>
      </p:sp>
      <p:sp>
        <p:nvSpPr>
          <p:cNvPr id="23" name="Text 21"/>
          <p:cNvSpPr/>
          <p:nvPr/>
        </p:nvSpPr>
        <p:spPr>
          <a:xfrm>
            <a:off x="6217920" y="276148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Intro · Overview · Country · Sports · Location · Insights</a:t>
            </a:r>
            <a:endParaRPr lang="en-US" sz="1050" dirty="0"/>
          </a:p>
        </p:txBody>
      </p:sp>
      <p:sp>
        <p:nvSpPr>
          <p:cNvPr id="24" name="Text 22"/>
          <p:cNvSpPr/>
          <p:nvPr/>
        </p:nvSpPr>
        <p:spPr>
          <a:xfrm>
            <a:off x="6217920" y="326440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Interactive slicers, maps, trend lines, scatter plots</a:t>
            </a:r>
            <a:endParaRPr lang="en-US" sz="1050" dirty="0"/>
          </a:p>
        </p:txBody>
      </p:sp>
      <p:sp>
        <p:nvSpPr>
          <p:cNvPr id="25" name="Text 23"/>
          <p:cNvSpPr/>
          <p:nvPr/>
        </p:nvSpPr>
        <p:spPr>
          <a:xfrm>
            <a:off x="6217920" y="376732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DAX measures + Power Query ETL pipeline</a:t>
            </a:r>
            <a:endParaRPr lang="en-US" sz="1050" dirty="0"/>
          </a:p>
        </p:txBody>
      </p:sp>
      <p:sp>
        <p:nvSpPr>
          <p:cNvPr id="26" name="Text 24"/>
          <p:cNvSpPr/>
          <p:nvPr/>
        </p:nvSpPr>
        <p:spPr>
          <a:xfrm>
            <a:off x="6217920" y="4270248"/>
            <a:ext cx="2468880" cy="457200"/>
          </a:xfrm>
          <a:prstGeom prst="rect">
            <a:avLst/>
          </a:prstGeom>
          <a:noFill/>
          <a:ln/>
        </p:spPr>
        <p:txBody>
          <a:bodyPr wrap="square" lIns="0" tIns="0" rIns="0" bIns="0" rtlCol="0" anchor="ctr"/>
          <a:lstStyle/>
          <a:p>
            <a:pPr marL="342900" indent="-342900">
              <a:buSzPct val="100000"/>
              <a:buChar char="•"/>
            </a:pPr>
            <a:r>
              <a:rPr lang="en-US" sz="1050" dirty="0">
                <a:solidFill>
                  <a:srgbClr val="B8C5D6"/>
                </a:solidFill>
                <a:latin typeface="Calibri" pitchFamily="34" charset="0"/>
                <a:ea typeface="Calibri" pitchFamily="34" charset="-122"/>
                <a:cs typeface="Calibri" pitchFamily="34" charset="-120"/>
              </a:rPr>
              <a:t>Professional portfolio-ready case study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0D1F"/>
        </a:solidFill>
      </p:bgPr>
    </p:bg>
    <p:spTree>
      <p:nvGrpSpPr>
        <p:cNvPr id="1" name=""/>
        <p:cNvGrpSpPr/>
        <p:nvPr/>
      </p:nvGrpSpPr>
      <p:grpSpPr>
        <a:xfrm>
          <a:off x="0" y="0"/>
          <a:ext cx="0" cy="0"/>
          <a:chOff x="0" y="0"/>
          <a:chExt cx="0" cy="0"/>
        </a:xfrm>
      </p:grpSpPr>
      <p:sp>
        <p:nvSpPr>
          <p:cNvPr id="2" name="Shape 0"/>
          <p:cNvSpPr/>
          <p:nvPr/>
        </p:nvSpPr>
        <p:spPr>
          <a:xfrm>
            <a:off x="7040880" y="164592"/>
            <a:ext cx="475488" cy="475488"/>
          </a:xfrm>
          <a:prstGeom prst="ellipse">
            <a:avLst/>
          </a:prstGeom>
          <a:solidFill>
            <a:srgbClr val="060D1F"/>
          </a:solidFill>
          <a:ln w="63500">
            <a:solidFill>
              <a:srgbClr val="1E90FF"/>
            </a:solidFill>
            <a:prstDash val="solid"/>
          </a:ln>
        </p:spPr>
      </p:sp>
      <p:sp>
        <p:nvSpPr>
          <p:cNvPr id="3" name="Shape 1"/>
          <p:cNvSpPr/>
          <p:nvPr/>
        </p:nvSpPr>
        <p:spPr>
          <a:xfrm>
            <a:off x="7479792" y="164592"/>
            <a:ext cx="475488" cy="475488"/>
          </a:xfrm>
          <a:prstGeom prst="ellipse">
            <a:avLst/>
          </a:prstGeom>
          <a:solidFill>
            <a:srgbClr val="060D1F"/>
          </a:solidFill>
          <a:ln w="63500">
            <a:solidFill>
              <a:srgbClr val="D4AF37"/>
            </a:solidFill>
            <a:prstDash val="solid"/>
          </a:ln>
        </p:spPr>
      </p:sp>
      <p:sp>
        <p:nvSpPr>
          <p:cNvPr id="4" name="Shape 2"/>
          <p:cNvSpPr/>
          <p:nvPr/>
        </p:nvSpPr>
        <p:spPr>
          <a:xfrm>
            <a:off x="7918704" y="164592"/>
            <a:ext cx="475488" cy="475488"/>
          </a:xfrm>
          <a:prstGeom prst="ellipse">
            <a:avLst/>
          </a:prstGeom>
          <a:solidFill>
            <a:srgbClr val="060D1F"/>
          </a:solidFill>
          <a:ln w="63500">
            <a:solidFill>
              <a:srgbClr val="E63946"/>
            </a:solidFill>
            <a:prstDash val="solid"/>
          </a:ln>
        </p:spPr>
      </p:sp>
      <p:sp>
        <p:nvSpPr>
          <p:cNvPr id="5" name="Shape 3"/>
          <p:cNvSpPr/>
          <p:nvPr/>
        </p:nvSpPr>
        <p:spPr>
          <a:xfrm>
            <a:off x="8357616" y="164592"/>
            <a:ext cx="475488" cy="475488"/>
          </a:xfrm>
          <a:prstGeom prst="ellipse">
            <a:avLst/>
          </a:prstGeom>
          <a:solidFill>
            <a:srgbClr val="060D1F"/>
          </a:solidFill>
          <a:ln w="63500">
            <a:solidFill>
              <a:srgbClr val="2DC653"/>
            </a:solidFill>
            <a:prstDash val="solid"/>
          </a:ln>
        </p:spPr>
      </p:sp>
      <p:sp>
        <p:nvSpPr>
          <p:cNvPr id="6" name="Shape 4"/>
          <p:cNvSpPr/>
          <p:nvPr/>
        </p:nvSpPr>
        <p:spPr>
          <a:xfrm>
            <a:off x="8796528" y="164592"/>
            <a:ext cx="475488" cy="475488"/>
          </a:xfrm>
          <a:prstGeom prst="ellipse">
            <a:avLst/>
          </a:prstGeom>
          <a:solidFill>
            <a:srgbClr val="060D1F"/>
          </a:solidFill>
          <a:ln w="63500">
            <a:solidFill>
              <a:srgbClr val="B8C5D6"/>
            </a:solidFill>
            <a:prstDash val="solid"/>
          </a:ln>
        </p:spPr>
      </p:sp>
      <p:sp>
        <p:nvSpPr>
          <p:cNvPr id="7" name="Shape 5"/>
          <p:cNvSpPr/>
          <p:nvPr/>
        </p:nvSpPr>
        <p:spPr>
          <a:xfrm>
            <a:off x="0" y="0"/>
            <a:ext cx="182880" cy="5143500"/>
          </a:xfrm>
          <a:prstGeom prst="rect">
            <a:avLst/>
          </a:prstGeom>
          <a:solidFill>
            <a:srgbClr val="D4AF37"/>
          </a:solidFill>
          <a:ln w="12700">
            <a:solidFill>
              <a:srgbClr val="D4AF37"/>
            </a:solidFill>
            <a:prstDash val="solid"/>
          </a:ln>
        </p:spPr>
      </p:sp>
      <p:sp>
        <p:nvSpPr>
          <p:cNvPr id="8" name="Text 6"/>
          <p:cNvSpPr/>
          <p:nvPr/>
        </p:nvSpPr>
        <p:spPr>
          <a:xfrm>
            <a:off x="411480" y="640080"/>
            <a:ext cx="8412480" cy="1005840"/>
          </a:xfrm>
          <a:prstGeom prst="rect">
            <a:avLst/>
          </a:prstGeom>
          <a:noFill/>
          <a:ln/>
        </p:spPr>
        <p:txBody>
          <a:bodyPr wrap="square" lIns="0" tIns="0" rIns="0" bIns="0" rtlCol="0" anchor="ctr"/>
          <a:lstStyle/>
          <a:p>
            <a:pPr algn="l" indent="0" marL="0">
              <a:buNone/>
            </a:pPr>
            <a:r>
              <a:rPr lang="en-US" sz="5600" b="1" spc="1000" kern="0" dirty="0">
                <a:solidFill>
                  <a:srgbClr val="D4AF37"/>
                </a:solidFill>
                <a:latin typeface="Calibri" pitchFamily="34" charset="0"/>
                <a:ea typeface="Calibri" pitchFamily="34" charset="-122"/>
                <a:cs typeface="Calibri" pitchFamily="34" charset="-120"/>
              </a:rPr>
              <a:t>THANK YOU</a:t>
            </a:r>
            <a:endParaRPr lang="en-US" sz="5600" dirty="0"/>
          </a:p>
        </p:txBody>
      </p:sp>
      <p:sp>
        <p:nvSpPr>
          <p:cNvPr id="9" name="Text 7"/>
          <p:cNvSpPr/>
          <p:nvPr/>
        </p:nvSpPr>
        <p:spPr>
          <a:xfrm>
            <a:off x="411480" y="1664208"/>
            <a:ext cx="8229600" cy="365760"/>
          </a:xfrm>
          <a:prstGeom prst="rect">
            <a:avLst/>
          </a:prstGeom>
          <a:noFill/>
          <a:ln/>
        </p:spPr>
        <p:txBody>
          <a:bodyPr wrap="square" lIns="0" tIns="0" rIns="0" bIns="0" rtlCol="0" anchor="ctr"/>
          <a:lstStyle/>
          <a:p>
            <a:pPr algn="l" indent="0" marL="0">
              <a:buNone/>
            </a:pPr>
            <a:r>
              <a:rPr lang="en-US" sz="1300" dirty="0">
                <a:solidFill>
                  <a:srgbClr val="00B4D8"/>
                </a:solidFill>
                <a:latin typeface="Calibri" pitchFamily="34" charset="0"/>
                <a:ea typeface="Calibri" pitchFamily="34" charset="-122"/>
                <a:cs typeface="Calibri" pitchFamily="34" charset="-120"/>
              </a:rPr>
              <a:t>Olympic Games Data Analytics  ·  Microsoft Power BI  ·  Portfolio Project</a:t>
            </a:r>
            <a:endParaRPr lang="en-US" sz="1300" dirty="0"/>
          </a:p>
        </p:txBody>
      </p:sp>
      <p:sp>
        <p:nvSpPr>
          <p:cNvPr id="10" name="Shape 8"/>
          <p:cNvSpPr/>
          <p:nvPr/>
        </p:nvSpPr>
        <p:spPr>
          <a:xfrm>
            <a:off x="411480" y="2103120"/>
            <a:ext cx="5852160" cy="36576"/>
          </a:xfrm>
          <a:prstGeom prst="rect">
            <a:avLst/>
          </a:prstGeom>
          <a:solidFill>
            <a:srgbClr val="7A8FA8"/>
          </a:solidFill>
          <a:ln w="12700">
            <a:solidFill>
              <a:srgbClr val="7A8FA8"/>
            </a:solidFill>
            <a:prstDash val="solid"/>
          </a:ln>
        </p:spPr>
      </p:sp>
      <p:sp>
        <p:nvSpPr>
          <p:cNvPr id="11" name="Text 9"/>
          <p:cNvSpPr/>
          <p:nvPr/>
        </p:nvSpPr>
        <p:spPr>
          <a:xfrm>
            <a:off x="411480" y="2286000"/>
            <a:ext cx="8229600" cy="274320"/>
          </a:xfrm>
          <a:prstGeom prst="rect">
            <a:avLst/>
          </a:prstGeom>
          <a:noFill/>
          <a:ln/>
        </p:spPr>
        <p:txBody>
          <a:bodyPr wrap="square" lIns="0" tIns="0" rIns="0" bIns="0" rtlCol="0" anchor="ctr"/>
          <a:lstStyle/>
          <a:p>
            <a:pPr indent="0" marL="0">
              <a:buNone/>
            </a:pPr>
            <a:r>
              <a:rPr lang="en-US" sz="1000" b="1" spc="300" kern="0" dirty="0">
                <a:solidFill>
                  <a:srgbClr val="7A8FA8"/>
                </a:solidFill>
                <a:latin typeface="Calibri" pitchFamily="34" charset="0"/>
                <a:ea typeface="Calibri" pitchFamily="34" charset="-122"/>
                <a:cs typeface="Calibri" pitchFamily="34" charset="-120"/>
              </a:rPr>
              <a:t>PROJECT SUMMARY</a:t>
            </a:r>
            <a:endParaRPr lang="en-US" sz="1000" dirty="0"/>
          </a:p>
        </p:txBody>
      </p:sp>
      <p:sp>
        <p:nvSpPr>
          <p:cNvPr id="12" name="Text 10"/>
          <p:cNvSpPr/>
          <p:nvPr/>
        </p:nvSpPr>
        <p:spPr>
          <a:xfrm>
            <a:off x="411480" y="2670048"/>
            <a:ext cx="8321040" cy="320040"/>
          </a:xfrm>
          <a:prstGeom prst="rect">
            <a:avLst/>
          </a:prstGeom>
          <a:noFill/>
          <a:ln/>
        </p:spPr>
        <p:txBody>
          <a:bodyPr wrap="square" lIns="0" tIns="0" rIns="0" bIns="0" rtlCol="0" anchor="ctr"/>
          <a:lstStyle/>
          <a:p>
            <a:pPr indent="0" marL="0">
              <a:buNone/>
            </a:pPr>
            <a:r>
              <a:rPr lang="en-US" sz="1250" dirty="0">
                <a:solidFill>
                  <a:srgbClr val="B8C5D6"/>
                </a:solidFill>
                <a:latin typeface="Calibri" pitchFamily="34" charset="0"/>
                <a:ea typeface="Calibri" pitchFamily="34" charset="-122"/>
                <a:cs typeface="Calibri" pitchFamily="34" charset="-120"/>
              </a:rPr>
              <a:t>✦  6-page interactive Power BI dashboard built on Olympic Games dataset (1960–2018)</a:t>
            </a:r>
            <a:endParaRPr lang="en-US" sz="1250" dirty="0"/>
          </a:p>
        </p:txBody>
      </p:sp>
      <p:sp>
        <p:nvSpPr>
          <p:cNvPr id="13" name="Text 11"/>
          <p:cNvSpPr/>
          <p:nvPr/>
        </p:nvSpPr>
        <p:spPr>
          <a:xfrm>
            <a:off x="411480" y="3017520"/>
            <a:ext cx="8321040" cy="320040"/>
          </a:xfrm>
          <a:prstGeom prst="rect">
            <a:avLst/>
          </a:prstGeom>
          <a:noFill/>
          <a:ln/>
        </p:spPr>
        <p:txBody>
          <a:bodyPr wrap="square" lIns="0" tIns="0" rIns="0" bIns="0" rtlCol="0" anchor="ctr"/>
          <a:lstStyle/>
          <a:p>
            <a:pPr indent="0" marL="0">
              <a:buNone/>
            </a:pPr>
            <a:r>
              <a:rPr lang="en-US" sz="1250" dirty="0">
                <a:solidFill>
                  <a:srgbClr val="B8C5D6"/>
                </a:solidFill>
                <a:latin typeface="Calibri" pitchFamily="34" charset="0"/>
                <a:ea typeface="Calibri" pitchFamily="34" charset="-122"/>
                <a:cs typeface="Calibri" pitchFamily="34" charset="-120"/>
              </a:rPr>
              <a:t>✦  73 countries · 26 games · 16,000+ medals · 35 sports disciplines analysed</a:t>
            </a:r>
            <a:endParaRPr lang="en-US" sz="1250" dirty="0"/>
          </a:p>
        </p:txBody>
      </p:sp>
      <p:sp>
        <p:nvSpPr>
          <p:cNvPr id="14" name="Text 12"/>
          <p:cNvSpPr/>
          <p:nvPr/>
        </p:nvSpPr>
        <p:spPr>
          <a:xfrm>
            <a:off x="411480" y="3364992"/>
            <a:ext cx="8321040" cy="320040"/>
          </a:xfrm>
          <a:prstGeom prst="rect">
            <a:avLst/>
          </a:prstGeom>
          <a:noFill/>
          <a:ln/>
        </p:spPr>
        <p:txBody>
          <a:bodyPr wrap="square" lIns="0" tIns="0" rIns="0" bIns="0" rtlCol="0" anchor="ctr"/>
          <a:lstStyle/>
          <a:p>
            <a:pPr indent="0" marL="0">
              <a:buNone/>
            </a:pPr>
            <a:r>
              <a:rPr lang="en-US" sz="1250" dirty="0">
                <a:solidFill>
                  <a:srgbClr val="B8C5D6"/>
                </a:solidFill>
                <a:latin typeface="Calibri" pitchFamily="34" charset="0"/>
                <a:ea typeface="Calibri" pitchFamily="34" charset="-122"/>
                <a:cs typeface="Calibri" pitchFamily="34" charset="-120"/>
              </a:rPr>
              <a:t>✦  3 analytical problems identified with 4 data-driven strategic recommendations</a:t>
            </a:r>
            <a:endParaRPr lang="en-US" sz="1250" dirty="0"/>
          </a:p>
        </p:txBody>
      </p:sp>
      <p:sp>
        <p:nvSpPr>
          <p:cNvPr id="15" name="Text 13"/>
          <p:cNvSpPr/>
          <p:nvPr/>
        </p:nvSpPr>
        <p:spPr>
          <a:xfrm>
            <a:off x="411480" y="3712464"/>
            <a:ext cx="8321040" cy="320040"/>
          </a:xfrm>
          <a:prstGeom prst="rect">
            <a:avLst/>
          </a:prstGeom>
          <a:noFill/>
          <a:ln/>
        </p:spPr>
        <p:txBody>
          <a:bodyPr wrap="square" lIns="0" tIns="0" rIns="0" bIns="0" rtlCol="0" anchor="ctr"/>
          <a:lstStyle/>
          <a:p>
            <a:pPr indent="0" marL="0">
              <a:buNone/>
            </a:pPr>
            <a:r>
              <a:rPr lang="en-US" sz="1250" dirty="0">
                <a:solidFill>
                  <a:srgbClr val="B8C5D6"/>
                </a:solidFill>
                <a:latin typeface="Calibri" pitchFamily="34" charset="0"/>
                <a:ea typeface="Calibri" pitchFamily="34" charset="-122"/>
                <a:cs typeface="Calibri" pitchFamily="34" charset="-120"/>
              </a:rPr>
              <a:t>✦  DAX measures, Power Query ETL, interactive slicers, and world map visualisations</a:t>
            </a:r>
            <a:endParaRPr lang="en-US" sz="1250" dirty="0"/>
          </a:p>
        </p:txBody>
      </p:sp>
      <p:sp>
        <p:nvSpPr>
          <p:cNvPr id="16" name="Shape 14"/>
          <p:cNvSpPr/>
          <p:nvPr/>
        </p:nvSpPr>
        <p:spPr>
          <a:xfrm>
            <a:off x="0" y="4453128"/>
            <a:ext cx="9144000" cy="690372"/>
          </a:xfrm>
          <a:prstGeom prst="rect">
            <a:avLst/>
          </a:prstGeom>
          <a:solidFill>
            <a:srgbClr val="0F2040"/>
          </a:solidFill>
          <a:ln w="12700">
            <a:solidFill>
              <a:srgbClr val="0F2040"/>
            </a:solidFill>
            <a:prstDash val="solid"/>
          </a:ln>
        </p:spPr>
      </p:sp>
      <p:sp>
        <p:nvSpPr>
          <p:cNvPr id="17" name="Text 15"/>
          <p:cNvSpPr/>
          <p:nvPr/>
        </p:nvSpPr>
        <p:spPr>
          <a:xfrm>
            <a:off x="365760" y="4480560"/>
            <a:ext cx="8412480" cy="566928"/>
          </a:xfrm>
          <a:prstGeom prst="rect">
            <a:avLst/>
          </a:prstGeom>
          <a:noFill/>
          <a:ln/>
        </p:spPr>
        <p:txBody>
          <a:bodyPr wrap="square" lIns="0" tIns="0" rIns="0" bIns="0" rtlCol="0" anchor="ctr"/>
          <a:lstStyle/>
          <a:p>
            <a:pPr algn="ctr" indent="0" marL="0">
              <a:buNone/>
            </a:pPr>
            <a:r>
              <a:rPr lang="en-US" sz="1300" i="1" dirty="0">
                <a:solidFill>
                  <a:srgbClr val="D4AF37"/>
                </a:solidFill>
                <a:latin typeface="Calibri" pitchFamily="34" charset="0"/>
                <a:ea typeface="Calibri" pitchFamily="34" charset="-122"/>
                <a:cs typeface="Calibri" pitchFamily="34" charset="-120"/>
              </a:rPr>
              <a:t>Questions &amp; Discussion Welcome  ·  Data tells the story — let's explore it together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Olympic Games Data Analytics</dc:title>
  <dc:subject>PptxGenJS Presentation</dc:subject>
  <dc:creator>Data Analyst Portfolio</dc:creator>
  <cp:lastModifiedBy>Data Analyst Portfolio</cp:lastModifiedBy>
  <cp:revision>1</cp:revision>
  <dcterms:created xsi:type="dcterms:W3CDTF">2026-03-15T20:09:22Z</dcterms:created>
  <dcterms:modified xsi:type="dcterms:W3CDTF">2026-03-15T20:09:22Z</dcterms:modified>
</cp:coreProperties>
</file>